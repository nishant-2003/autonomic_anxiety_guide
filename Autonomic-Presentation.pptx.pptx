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Georgia Bold" charset="1" panose="02040802050405020203"/>
      <p:regular r:id="rId25"/>
    </p:embeddedFont>
    <p:embeddedFont>
      <p:font typeface="Georgia Italics" charset="1" panose="02040502050405090303"/>
      <p:regular r:id="rId26"/>
    </p:embeddedFont>
    <p:embeddedFont>
      <p:font typeface="Calibri (MS)" charset="1" panose="020F0502020204030204"/>
      <p:regular r:id="rId27"/>
    </p:embeddedFont>
    <p:embeddedFont>
      <p:font typeface="Calibri (MS) Bold Italics" charset="1" panose="020F07020304040A0204"/>
      <p:regular r:id="rId28"/>
    </p:embeddedFont>
    <p:embeddedFont>
      <p:font typeface="Calibri (MS) Bold" charset="1" panose="020F0702030404030204"/>
      <p:regular r:id="rId30"/>
    </p:embeddedFont>
    <p:embeddedFont>
      <p:font typeface="Calibri (MS) Italics" charset="1" panose="020F05020202040A0204"/>
      <p:regular r:id="rId31"/>
    </p:embeddedFont>
    <p:embeddedFont>
      <p:font typeface="Courier New" charset="1" panose="02070309020205020404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Slides/notesSlide2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notesSlides/notesSlide3.xml" Type="http://schemas.openxmlformats.org/officeDocument/2006/relationships/notesSlide"/><Relationship Id="rId33" Target="notesSlides/notesSlide4.xml" Type="http://schemas.openxmlformats.org/officeDocument/2006/relationships/notesSlide"/><Relationship Id="rId34" Target="notesSlides/notesSlide5.xml" Type="http://schemas.openxmlformats.org/officeDocument/2006/relationships/notesSlide"/><Relationship Id="rId35" Target="notesSlides/notesSlide6.xml" Type="http://schemas.openxmlformats.org/officeDocument/2006/relationships/notesSlide"/><Relationship Id="rId36" Target="notesSlides/notesSlide7.xml" Type="http://schemas.openxmlformats.org/officeDocument/2006/relationships/notesSlide"/><Relationship Id="rId37" Target="notesSlides/notesSlide8.xml" Type="http://schemas.openxmlformats.org/officeDocument/2006/relationships/notesSlide"/><Relationship Id="rId38" Target="notesSlides/notesSlide9.xml" Type="http://schemas.openxmlformats.org/officeDocument/2006/relationships/notesSlide"/><Relationship Id="rId39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1.xml" Type="http://schemas.openxmlformats.org/officeDocument/2006/relationships/notesSlide"/><Relationship Id="rId41" Target="fonts/font41.fntdata" Type="http://schemas.openxmlformats.org/officeDocument/2006/relationships/font"/><Relationship Id="rId42" Target="notesSlides/notesSlide12.xml" Type="http://schemas.openxmlformats.org/officeDocument/2006/relationships/notesSlide"/><Relationship Id="rId43" Target="notesSlides/notesSlide13.xml" Type="http://schemas.openxmlformats.org/officeDocument/2006/relationships/notesSlide"/><Relationship Id="rId44" Target="notesSlides/notesSlide14.xml" Type="http://schemas.openxmlformats.org/officeDocument/2006/relationships/notesSlide"/><Relationship Id="rId45" Target="notesSlides/notesSlide15.xml" Type="http://schemas.openxmlformats.org/officeDocument/2006/relationships/notesSlide"/><Relationship Id="rId46" Target="notesSlides/notesSlide16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402336" cy="10287000"/>
            <a:chOff x="0" y="0"/>
            <a:chExt cx="53644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644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A7C6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8229600"/>
            <a:ext cx="18288000" cy="2057400"/>
            <a:chOff x="0" y="0"/>
            <a:chExt cx="24384000" cy="274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743200"/>
                  </a:lnTo>
                  <a:lnTo>
                    <a:pt x="0" y="2743200"/>
                  </a:lnTo>
                  <a:close/>
                </a:path>
              </a:pathLst>
            </a:custGeom>
            <a:solidFill>
              <a:srgbClr val="4A7C6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78037" y="179070"/>
            <a:ext cx="16459200" cy="2560320"/>
            <a:chOff x="0" y="0"/>
            <a:chExt cx="21945600" cy="34137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3413760"/>
            </a:xfrm>
            <a:custGeom>
              <a:avLst/>
              <a:gdLst/>
              <a:ahLst/>
              <a:cxnLst/>
              <a:rect r="r" b="b" t="t" l="l"/>
              <a:pathLst>
                <a:path h="34137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1945600" cy="341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80"/>
                </a:lnSpc>
              </a:pPr>
              <a:r>
                <a:rPr lang="en-US" sz="144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autonomic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78037" y="2375535"/>
            <a:ext cx="14630400" cy="1645920"/>
            <a:chOff x="0" y="0"/>
            <a:chExt cx="19507200" cy="2194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072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950720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i="true">
                  <a:solidFill>
                    <a:srgbClr val="7AAB9C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An AI-Powered Anxiety Awareness</a:t>
              </a:r>
            </a:p>
            <a:p>
              <a:pPr algn="l">
                <a:lnSpc>
                  <a:spcPts val="4320"/>
                </a:lnSpc>
              </a:pPr>
              <a:r>
                <a:rPr lang="en-US" sz="3600" i="true">
                  <a:solidFill>
                    <a:srgbClr val="7AAB9C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&amp; Self-Assessment Web Platform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02336" y="4021455"/>
            <a:ext cx="8267700" cy="47625"/>
            <a:chOff x="0" y="0"/>
            <a:chExt cx="11023600" cy="63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5400" y="0"/>
              <a:ext cx="10972800" cy="63500"/>
            </a:xfrm>
            <a:custGeom>
              <a:avLst/>
              <a:gdLst/>
              <a:ahLst/>
              <a:cxnLst/>
              <a:rect r="r" b="b" t="t" l="l"/>
              <a:pathLst>
                <a:path h="635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4A7C6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78037" y="4277849"/>
            <a:ext cx="16459200" cy="865651"/>
            <a:chOff x="0" y="0"/>
            <a:chExt cx="21945600" cy="115420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154202"/>
            </a:xfrm>
            <a:custGeom>
              <a:avLst/>
              <a:gdLst/>
              <a:ahLst/>
              <a:cxnLst/>
              <a:rect r="r" b="b" t="t" l="l"/>
              <a:pathLst>
                <a:path h="115420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54202"/>
                  </a:lnTo>
                  <a:lnTo>
                    <a:pt x="0" y="11542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792" r="0" b="-30217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21945600" cy="12208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19"/>
                </a:lnSpc>
              </a:pPr>
              <a:r>
                <a:rPr lang="en-US" sz="3099" spc="281">
                  <a:solidFill>
                    <a:srgbClr val="C8B89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Final Year BTech CSE — Major Project  |  KIIT University 2026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78037" y="5499215"/>
            <a:ext cx="16459200" cy="2110986"/>
            <a:chOff x="0" y="0"/>
            <a:chExt cx="21945600" cy="28146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2814648"/>
            </a:xfrm>
            <a:custGeom>
              <a:avLst/>
              <a:gdLst/>
              <a:ahLst/>
              <a:cxnLst/>
              <a:rect r="r" b="b" t="t" l="l"/>
              <a:pathLst>
                <a:path h="28146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814648"/>
                  </a:lnTo>
                  <a:lnTo>
                    <a:pt x="0" y="2814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094" r="0" b="-6275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21945600" cy="28813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 b="true">
                  <a:solidFill>
                    <a:srgbClr val="7A8A8E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Tamaghna Mukhopadhyay (</a:t>
              </a:r>
              <a:r>
                <a:rPr lang="en-US" sz="2799" i="true" b="true">
                  <a:solidFill>
                    <a:srgbClr val="7A8A8E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22054190)</a:t>
              </a:r>
            </a:p>
            <a:p>
              <a:pPr algn="l">
                <a:lnSpc>
                  <a:spcPts val="3359"/>
                </a:lnSpc>
              </a:pPr>
              <a:r>
                <a:rPr lang="en-US" sz="2799" i="true" b="true">
                  <a:solidFill>
                    <a:srgbClr val="7A8A8E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Shreya Ritika Samal  (</a:t>
              </a:r>
              <a:r>
                <a:rPr lang="en-US" sz="2799" i="true" b="true">
                  <a:solidFill>
                    <a:srgbClr val="7A8A8E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22051627)</a:t>
              </a:r>
            </a:p>
            <a:p>
              <a:pPr algn="l">
                <a:lnSpc>
                  <a:spcPts val="3359"/>
                </a:lnSpc>
              </a:pPr>
              <a:r>
                <a:rPr lang="en-US" sz="2799" i="true" b="true">
                  <a:solidFill>
                    <a:srgbClr val="7A8A8E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Banisethi Bhoomika (22053935)</a:t>
              </a:r>
            </a:p>
            <a:p>
              <a:pPr algn="l">
                <a:lnSpc>
                  <a:spcPts val="3359"/>
                </a:lnSpc>
              </a:pPr>
              <a:r>
                <a:rPr lang="en-US" b="true" sz="2799" i="true">
                  <a:solidFill>
                    <a:srgbClr val="7A8A8E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Nishant Kumar Jha (22054387)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9184" cy="10287000"/>
            <a:chOff x="0" y="0"/>
            <a:chExt cx="438912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91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A7C6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" y="694944"/>
            <a:ext cx="16459200" cy="457200"/>
            <a:chOff x="0" y="0"/>
            <a:chExt cx="21945600" cy="609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999">
                  <a:solidFill>
                    <a:srgbClr val="7AAB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PROBLEM WE ARE SOLVING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40" y="1280160"/>
            <a:ext cx="15544800" cy="1463040"/>
            <a:chOff x="0" y="0"/>
            <a:chExt cx="20726400" cy="1950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726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59"/>
                </a:lnSpc>
              </a:pPr>
              <a:r>
                <a:rPr lang="en-US" sz="6800" b="true">
                  <a:solidFill>
                    <a:srgbClr val="0D1B1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 silent crisis hiding in plain sight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05840" y="3017520"/>
            <a:ext cx="7680960" cy="2743200"/>
            <a:chOff x="0" y="0"/>
            <a:chExt cx="10241280" cy="3657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4128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05840" y="3017520"/>
            <a:ext cx="146304" cy="2743200"/>
            <a:chOff x="0" y="0"/>
            <a:chExt cx="195072" cy="3657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072" cy="3657600"/>
            </a:xfrm>
            <a:custGeom>
              <a:avLst/>
              <a:gdLst/>
              <a:ahLst/>
              <a:cxnLst/>
              <a:rect r="r" b="b" t="t" l="l"/>
              <a:pathLst>
                <a:path h="36576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4A7C6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35024" y="3236976"/>
            <a:ext cx="4572000" cy="1188720"/>
            <a:chOff x="0" y="0"/>
            <a:chExt cx="6096000" cy="15849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960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42" r="0" b="-2494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609600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4A7C6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 in 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35024" y="4334256"/>
            <a:ext cx="6949440" cy="1086278"/>
            <a:chOff x="0" y="0"/>
            <a:chExt cx="9265920" cy="14483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265920" cy="1448370"/>
            </a:xfrm>
            <a:custGeom>
              <a:avLst/>
              <a:gdLst/>
              <a:ahLst/>
              <a:cxnLst/>
              <a:rect r="r" b="b" t="t" l="l"/>
              <a:pathLst>
                <a:path h="144837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448370"/>
                  </a:lnTo>
                  <a:lnTo>
                    <a:pt x="0" y="14483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357" r="0" b="-7095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9265920" cy="1515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19"/>
                </a:lnSpc>
              </a:pPr>
              <a:r>
                <a:rPr lang="en-US" sz="30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people experience a mental health</a:t>
              </a:r>
            </a:p>
            <a:p>
              <a:pPr algn="l">
                <a:lnSpc>
                  <a:spcPts val="3719"/>
                </a:lnSpc>
              </a:pPr>
              <a:r>
                <a:rPr lang="en-US" sz="30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 each year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35024" y="5358384"/>
            <a:ext cx="6949440" cy="329184"/>
            <a:chOff x="0" y="0"/>
            <a:chExt cx="9265920" cy="43891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265920" cy="438912"/>
            </a:xfrm>
            <a:custGeom>
              <a:avLst/>
              <a:gdLst/>
              <a:ahLst/>
              <a:cxnLst/>
              <a:rect r="r" b="b" t="t" l="l"/>
              <a:pathLst>
                <a:path h="43891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2659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7A8A8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NHS England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418320" y="3017520"/>
            <a:ext cx="7680960" cy="2743200"/>
            <a:chOff x="0" y="0"/>
            <a:chExt cx="10241280" cy="3657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24128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418320" y="3017520"/>
            <a:ext cx="146304" cy="2743200"/>
            <a:chOff x="0" y="0"/>
            <a:chExt cx="195072" cy="3657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5072" cy="3657600"/>
            </a:xfrm>
            <a:custGeom>
              <a:avLst/>
              <a:gdLst/>
              <a:ahLst/>
              <a:cxnLst/>
              <a:rect r="r" b="b" t="t" l="l"/>
              <a:pathLst>
                <a:path h="36576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4A7C6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747504" y="3236976"/>
            <a:ext cx="4572000" cy="1188720"/>
            <a:chOff x="0" y="0"/>
            <a:chExt cx="6096000" cy="15849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0960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42" r="0" b="-2494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609600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4A7C6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284M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747504" y="4334256"/>
            <a:ext cx="6949440" cy="1086277"/>
            <a:chOff x="0" y="0"/>
            <a:chExt cx="9265920" cy="144836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265920" cy="1448369"/>
            </a:xfrm>
            <a:custGeom>
              <a:avLst/>
              <a:gdLst/>
              <a:ahLst/>
              <a:cxnLst/>
              <a:rect r="r" b="b" t="t" l="l"/>
              <a:pathLst>
                <a:path h="1448369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448369"/>
                  </a:lnTo>
                  <a:lnTo>
                    <a:pt x="0" y="14483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357" r="0" b="-7095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9265920" cy="1515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19"/>
                </a:lnSpc>
              </a:pPr>
              <a:r>
                <a:rPr lang="en-US" sz="30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people worldwide live with</a:t>
              </a:r>
            </a:p>
            <a:p>
              <a:pPr algn="l">
                <a:lnSpc>
                  <a:spcPts val="3719"/>
                </a:lnSpc>
              </a:pPr>
              <a:r>
                <a:rPr lang="en-US" sz="30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anxiety disorders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747504" y="5358384"/>
            <a:ext cx="6949440" cy="329184"/>
            <a:chOff x="0" y="0"/>
            <a:chExt cx="9265920" cy="43891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265920" cy="438912"/>
            </a:xfrm>
            <a:custGeom>
              <a:avLst/>
              <a:gdLst/>
              <a:ahLst/>
              <a:cxnLst/>
              <a:rect r="r" b="b" t="t" l="l"/>
              <a:pathLst>
                <a:path h="43891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92659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7A8A8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WHO / GBD 2017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05840" y="6126480"/>
            <a:ext cx="7680960" cy="2743200"/>
            <a:chOff x="0" y="0"/>
            <a:chExt cx="10241280" cy="3657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24128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05840" y="6126480"/>
            <a:ext cx="146304" cy="2743200"/>
            <a:chOff x="0" y="0"/>
            <a:chExt cx="195072" cy="3657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5072" cy="3657600"/>
            </a:xfrm>
            <a:custGeom>
              <a:avLst/>
              <a:gdLst/>
              <a:ahLst/>
              <a:cxnLst/>
              <a:rect r="r" b="b" t="t" l="l"/>
              <a:pathLst>
                <a:path h="36576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4A7C6F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35024" y="6345936"/>
            <a:ext cx="4572000" cy="1188720"/>
            <a:chOff x="0" y="0"/>
            <a:chExt cx="6096000" cy="15849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0960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42" r="0" b="-2494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609600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4A7C6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40%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35024" y="7443216"/>
            <a:ext cx="6949440" cy="1086277"/>
            <a:chOff x="0" y="0"/>
            <a:chExt cx="9265920" cy="144836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265920" cy="1448369"/>
            </a:xfrm>
            <a:custGeom>
              <a:avLst/>
              <a:gdLst/>
              <a:ahLst/>
              <a:cxnLst/>
              <a:rect r="r" b="b" t="t" l="l"/>
              <a:pathLst>
                <a:path h="1448369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448369"/>
                  </a:lnTo>
                  <a:lnTo>
                    <a:pt x="0" y="14483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357" r="0" b="-7095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9265920" cy="1515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19"/>
                </a:lnSpc>
              </a:pPr>
              <a:r>
                <a:rPr lang="en-US" sz="30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of college students report</a:t>
              </a:r>
            </a:p>
            <a:p>
              <a:pPr algn="l">
                <a:lnSpc>
                  <a:spcPts val="3719"/>
                </a:lnSpc>
              </a:pPr>
              <a:r>
                <a:rPr lang="en-US" sz="30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overwhelming anxiety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35024" y="8467344"/>
            <a:ext cx="6949440" cy="329184"/>
            <a:chOff x="0" y="0"/>
            <a:chExt cx="9265920" cy="43891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265920" cy="438912"/>
            </a:xfrm>
            <a:custGeom>
              <a:avLst/>
              <a:gdLst/>
              <a:ahLst/>
              <a:cxnLst/>
              <a:rect r="r" b="b" t="t" l="l"/>
              <a:pathLst>
                <a:path h="43891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92659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7A8A8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ACHA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418320" y="6126480"/>
            <a:ext cx="7680960" cy="2743200"/>
            <a:chOff x="0" y="0"/>
            <a:chExt cx="10241280" cy="36576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24128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418320" y="6126480"/>
            <a:ext cx="146304" cy="2743200"/>
            <a:chOff x="0" y="0"/>
            <a:chExt cx="195072" cy="36576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95072" cy="3657600"/>
            </a:xfrm>
            <a:custGeom>
              <a:avLst/>
              <a:gdLst/>
              <a:ahLst/>
              <a:cxnLst/>
              <a:rect r="r" b="b" t="t" l="l"/>
              <a:pathLst>
                <a:path h="36576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4A7C6F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747504" y="6345936"/>
            <a:ext cx="4572000" cy="1188720"/>
            <a:chOff x="0" y="0"/>
            <a:chExt cx="6096000" cy="15849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0960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42" r="0" b="-2494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609600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4A7C6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37%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601200" y="7443216"/>
            <a:ext cx="6949440" cy="1086277"/>
            <a:chOff x="0" y="0"/>
            <a:chExt cx="9265920" cy="144836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265920" cy="1448369"/>
            </a:xfrm>
            <a:custGeom>
              <a:avLst/>
              <a:gdLst/>
              <a:ahLst/>
              <a:cxnLst/>
              <a:rect r="r" b="b" t="t" l="l"/>
              <a:pathLst>
                <a:path h="1448369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448369"/>
                  </a:lnTo>
                  <a:lnTo>
                    <a:pt x="0" y="14483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357" r="0" b="-70952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9265920" cy="1515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19"/>
                </a:lnSpc>
              </a:pPr>
              <a:r>
                <a:rPr lang="en-US" sz="30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of those with anxiety ever</a:t>
              </a:r>
            </a:p>
            <a:p>
              <a:pPr algn="l">
                <a:lnSpc>
                  <a:spcPts val="3719"/>
                </a:lnSpc>
              </a:pPr>
              <a:r>
                <a:rPr lang="en-US" sz="30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receive treatment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747504" y="8467344"/>
            <a:ext cx="6949440" cy="329184"/>
            <a:chOff x="0" y="0"/>
            <a:chExt cx="9265920" cy="43891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265920" cy="438912"/>
            </a:xfrm>
            <a:custGeom>
              <a:avLst/>
              <a:gdLst/>
              <a:ahLst/>
              <a:cxnLst/>
              <a:rect r="r" b="b" t="t" l="l"/>
              <a:pathLst>
                <a:path h="43891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92659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7A8A8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ADAA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05840" y="9235440"/>
            <a:ext cx="16642080" cy="640080"/>
            <a:chOff x="0" y="0"/>
            <a:chExt cx="22189440" cy="8534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2189439" cy="853440"/>
            </a:xfrm>
            <a:custGeom>
              <a:avLst/>
              <a:gdLst/>
              <a:ahLst/>
              <a:cxnLst/>
              <a:rect r="r" b="b" t="t" l="l"/>
              <a:pathLst>
                <a:path h="85344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610" r="0" b="-45661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2218944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4A7C6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gap: diagnostic tools exist — but almost no accessible awareness tools designed for students.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9184" cy="10287000"/>
            <a:chOff x="0" y="0"/>
            <a:chExt cx="438912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91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A7C6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" y="694944"/>
            <a:ext cx="16459200" cy="457200"/>
            <a:chOff x="0" y="0"/>
            <a:chExt cx="21945600" cy="609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999">
                  <a:solidFill>
                    <a:srgbClr val="7AAB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SOLUTION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40" y="1280160"/>
            <a:ext cx="12573591" cy="1463040"/>
            <a:chOff x="0" y="0"/>
            <a:chExt cx="16764788" cy="1950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764789" cy="1950720"/>
            </a:xfrm>
            <a:custGeom>
              <a:avLst/>
              <a:gdLst/>
              <a:ahLst/>
              <a:cxnLst/>
              <a:rect r="r" b="b" t="t" l="l"/>
              <a:pathLst>
                <a:path h="1950720" w="16764789">
                  <a:moveTo>
                    <a:pt x="0" y="0"/>
                  </a:moveTo>
                  <a:lnTo>
                    <a:pt x="16764789" y="0"/>
                  </a:lnTo>
                  <a:lnTo>
                    <a:pt x="16764789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028" r="-23630" b="-15702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6764788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59"/>
                </a:lnSpc>
              </a:pPr>
              <a:r>
                <a:rPr lang="en-US" sz="68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What is Autonomic?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05840" y="3017520"/>
            <a:ext cx="10241280" cy="2359152"/>
            <a:chOff x="0" y="0"/>
            <a:chExt cx="13655040" cy="31455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655039" cy="3145536"/>
            </a:xfrm>
            <a:custGeom>
              <a:avLst/>
              <a:gdLst/>
              <a:ahLst/>
              <a:cxnLst/>
              <a:rect r="r" b="b" t="t" l="l"/>
              <a:pathLst>
                <a:path h="3145536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3145536"/>
                  </a:lnTo>
                  <a:lnTo>
                    <a:pt x="0" y="31455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640" r="0" b="-1753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3655040" cy="31645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D6EBE6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A web-based mental health awareness platform — not a diagnostic tool — designed for students and young adults. No sign-up, no clinical jargon, no judgment.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247120" y="2834640"/>
            <a:ext cx="6492240" cy="1389888"/>
            <a:chOff x="0" y="0"/>
            <a:chExt cx="8656320" cy="18531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656320" cy="1853184"/>
            </a:xfrm>
            <a:custGeom>
              <a:avLst/>
              <a:gdLst/>
              <a:ahLst/>
              <a:cxnLst/>
              <a:rect r="r" b="b" t="t" l="l"/>
              <a:pathLst>
                <a:path h="1853184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1853184"/>
                  </a:lnTo>
                  <a:lnTo>
                    <a:pt x="0" y="1853184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247120" y="3017520"/>
            <a:ext cx="1005840" cy="1005840"/>
            <a:chOff x="0" y="0"/>
            <a:chExt cx="1341120" cy="13411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📖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978640" y="3019044"/>
            <a:ext cx="4389120" cy="548640"/>
            <a:chOff x="0" y="0"/>
            <a:chExt cx="585216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8521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7AAB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Understand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978640" y="3495294"/>
            <a:ext cx="4389120" cy="842218"/>
            <a:chOff x="0" y="0"/>
            <a:chExt cx="5852160" cy="112295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852160" cy="1122957"/>
            </a:xfrm>
            <a:custGeom>
              <a:avLst/>
              <a:gdLst/>
              <a:ahLst/>
              <a:cxnLst/>
              <a:rect r="r" b="b" t="t" l="l"/>
              <a:pathLst>
                <a:path h="1122957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122957"/>
                  </a:lnTo>
                  <a:lnTo>
                    <a:pt x="0" y="11229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972" r="0" b="-3411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5852160" cy="1180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Evidence-based psychoeducation about anxiety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247120" y="4443984"/>
            <a:ext cx="6492240" cy="1389888"/>
            <a:chOff x="0" y="0"/>
            <a:chExt cx="8656320" cy="18531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656320" cy="1853184"/>
            </a:xfrm>
            <a:custGeom>
              <a:avLst/>
              <a:gdLst/>
              <a:ahLst/>
              <a:cxnLst/>
              <a:rect r="r" b="b" t="t" l="l"/>
              <a:pathLst>
                <a:path h="1853184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1853184"/>
                  </a:lnTo>
                  <a:lnTo>
                    <a:pt x="0" y="1853184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247120" y="4599432"/>
            <a:ext cx="1005840" cy="1005840"/>
            <a:chOff x="0" y="0"/>
            <a:chExt cx="1341120" cy="13411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📊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978640" y="4389120"/>
            <a:ext cx="4389120" cy="548640"/>
            <a:chOff x="0" y="0"/>
            <a:chExt cx="585216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85216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7AAB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Gauge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978640" y="4904613"/>
            <a:ext cx="4389120" cy="842218"/>
            <a:chOff x="0" y="0"/>
            <a:chExt cx="5852160" cy="112295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852160" cy="1122957"/>
            </a:xfrm>
            <a:custGeom>
              <a:avLst/>
              <a:gdLst/>
              <a:ahLst/>
              <a:cxnLst/>
              <a:rect r="r" b="b" t="t" l="l"/>
              <a:pathLst>
                <a:path h="1122957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122957"/>
                  </a:lnTo>
                  <a:lnTo>
                    <a:pt x="0" y="11229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972" r="0" b="-3411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5852160" cy="1180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Validated GAD-7 and PHQ-4 self-assessment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247120" y="6053328"/>
            <a:ext cx="6492240" cy="1389888"/>
            <a:chOff x="0" y="0"/>
            <a:chExt cx="8656320" cy="185318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656320" cy="1853184"/>
            </a:xfrm>
            <a:custGeom>
              <a:avLst/>
              <a:gdLst/>
              <a:ahLst/>
              <a:cxnLst/>
              <a:rect r="r" b="b" t="t" l="l"/>
              <a:pathLst>
                <a:path h="1853184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1853184"/>
                  </a:lnTo>
                  <a:lnTo>
                    <a:pt x="0" y="1853184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1247120" y="6110097"/>
            <a:ext cx="1005840" cy="1005840"/>
            <a:chOff x="0" y="0"/>
            <a:chExt cx="1341120" cy="13411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🌿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978640" y="6138672"/>
            <a:ext cx="4389120" cy="548640"/>
            <a:chOff x="0" y="0"/>
            <a:chExt cx="585216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585216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7AAB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Cope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978640" y="6586347"/>
            <a:ext cx="4389120" cy="842218"/>
            <a:chOff x="0" y="0"/>
            <a:chExt cx="5852160" cy="112295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852160" cy="1122957"/>
            </a:xfrm>
            <a:custGeom>
              <a:avLst/>
              <a:gdLst/>
              <a:ahLst/>
              <a:cxnLst/>
              <a:rect r="r" b="b" t="t" l="l"/>
              <a:pathLst>
                <a:path h="1122957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122957"/>
                  </a:lnTo>
                  <a:lnTo>
                    <a:pt x="0" y="11229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972" r="0" b="-3411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5852160" cy="1180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Science-backed coping strategies and exercises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247120" y="7662672"/>
            <a:ext cx="6492240" cy="1389888"/>
            <a:chOff x="0" y="0"/>
            <a:chExt cx="8656320" cy="185318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656320" cy="1853184"/>
            </a:xfrm>
            <a:custGeom>
              <a:avLst/>
              <a:gdLst/>
              <a:ahLst/>
              <a:cxnLst/>
              <a:rect r="r" b="b" t="t" l="l"/>
              <a:pathLst>
                <a:path h="1853184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1853184"/>
                  </a:lnTo>
                  <a:lnTo>
                    <a:pt x="0" y="1853184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247120" y="7818120"/>
            <a:ext cx="1005840" cy="1005840"/>
            <a:chOff x="0" y="0"/>
            <a:chExt cx="1341120" cy="13411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💬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978640" y="7772400"/>
            <a:ext cx="4389120" cy="548640"/>
            <a:chOff x="0" y="0"/>
            <a:chExt cx="5852160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585216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7AAB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Talk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978640" y="8262366"/>
            <a:ext cx="4389120" cy="842218"/>
            <a:chOff x="0" y="0"/>
            <a:chExt cx="5852160" cy="112295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852160" cy="1122957"/>
            </a:xfrm>
            <a:custGeom>
              <a:avLst/>
              <a:gdLst/>
              <a:ahLst/>
              <a:cxnLst/>
              <a:rect r="r" b="b" t="t" l="l"/>
              <a:pathLst>
                <a:path h="1122957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122957"/>
                  </a:lnTo>
                  <a:lnTo>
                    <a:pt x="0" y="11229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972" r="0" b="-3411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5852160" cy="1180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companion available 24/7, no appointment needed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05840" y="9326880"/>
            <a:ext cx="10607040" cy="548640"/>
            <a:chOff x="0" y="0"/>
            <a:chExt cx="14142720" cy="7315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414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14142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199">
                  <a:solidFill>
                    <a:srgbClr val="C8B8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 Principle — Awareness, not diagnosis.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9184" cy="10287000"/>
            <a:chOff x="0" y="0"/>
            <a:chExt cx="438912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91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A7C6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" y="694944"/>
            <a:ext cx="16459200" cy="770001"/>
            <a:chOff x="0" y="0"/>
            <a:chExt cx="21945600" cy="10266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026668"/>
            </a:xfrm>
            <a:custGeom>
              <a:avLst/>
              <a:gdLst/>
              <a:ahLst/>
              <a:cxnLst/>
              <a:rect r="r" b="b" t="t" l="l"/>
              <a:pathLst>
                <a:path h="10266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26668"/>
                  </a:lnTo>
                  <a:lnTo>
                    <a:pt x="0" y="10266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6815" r="0" b="-34619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0" cy="10647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999">
                  <a:solidFill>
                    <a:srgbClr val="7AAB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FEATURES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40" y="1280160"/>
            <a:ext cx="15544800" cy="1463040"/>
            <a:chOff x="0" y="0"/>
            <a:chExt cx="20726400" cy="1950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726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59"/>
                </a:lnSpc>
              </a:pPr>
              <a:r>
                <a:rPr lang="en-US" sz="6800" b="true">
                  <a:solidFill>
                    <a:srgbClr val="0D1B1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Six things Autonomic does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05840" y="3017520"/>
            <a:ext cx="5394960" cy="2889504"/>
            <a:chOff x="0" y="0"/>
            <a:chExt cx="7193280" cy="3852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93280" cy="3852672"/>
            </a:xfrm>
            <a:custGeom>
              <a:avLst/>
              <a:gdLst/>
              <a:ahLst/>
              <a:cxnLst/>
              <a:rect r="r" b="b" t="t" l="l"/>
              <a:pathLst>
                <a:path h="3852672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3852672"/>
                  </a:lnTo>
                  <a:lnTo>
                    <a:pt x="0" y="385267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05840" y="3017520"/>
            <a:ext cx="5394960" cy="109728"/>
            <a:chOff x="0" y="0"/>
            <a:chExt cx="7193280" cy="14630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93280" cy="146304"/>
            </a:xfrm>
            <a:custGeom>
              <a:avLst/>
              <a:gdLst/>
              <a:ahLst/>
              <a:cxnLst/>
              <a:rect r="r" b="b" t="t" l="l"/>
              <a:pathLst>
                <a:path h="146304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4A7C6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80160" y="3291840"/>
            <a:ext cx="914400" cy="822960"/>
            <a:chOff x="0" y="0"/>
            <a:chExt cx="121920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473" t="0" r="-6547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1219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📋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80160" y="4114800"/>
            <a:ext cx="4846320" cy="548640"/>
            <a:chOff x="0" y="0"/>
            <a:chExt cx="646176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61760" cy="731520"/>
            </a:xfrm>
            <a:custGeom>
              <a:avLst/>
              <a:gdLst/>
              <a:ahLst/>
              <a:cxnLst/>
              <a:rect r="r" b="b" t="t" l="l"/>
              <a:pathLst>
                <a:path h="73152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117" r="0" b="-12211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4617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4A7C6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GAD-7 Assessment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80160" y="4700016"/>
            <a:ext cx="4846320" cy="1024128"/>
            <a:chOff x="0" y="0"/>
            <a:chExt cx="6461760" cy="136550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61760" cy="1365504"/>
            </a:xfrm>
            <a:custGeom>
              <a:avLst/>
              <a:gdLst/>
              <a:ahLst/>
              <a:cxnLst/>
              <a:rect r="r" b="b" t="t" l="l"/>
              <a:pathLst>
                <a:path h="1365504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205" r="0" b="-4220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6461760" cy="14131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7-question anxiety scale, real-time scoring &amp; severity classification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711696" y="3017520"/>
            <a:ext cx="5394960" cy="2889504"/>
            <a:chOff x="0" y="0"/>
            <a:chExt cx="7193280" cy="38526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193280" cy="3852672"/>
            </a:xfrm>
            <a:custGeom>
              <a:avLst/>
              <a:gdLst/>
              <a:ahLst/>
              <a:cxnLst/>
              <a:rect r="r" b="b" t="t" l="l"/>
              <a:pathLst>
                <a:path h="3852672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3852672"/>
                  </a:lnTo>
                  <a:lnTo>
                    <a:pt x="0" y="385267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711696" y="3017520"/>
            <a:ext cx="5394960" cy="109728"/>
            <a:chOff x="0" y="0"/>
            <a:chExt cx="7193280" cy="14630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93280" cy="146304"/>
            </a:xfrm>
            <a:custGeom>
              <a:avLst/>
              <a:gdLst/>
              <a:ahLst/>
              <a:cxnLst/>
              <a:rect r="r" b="b" t="t" l="l"/>
              <a:pathLst>
                <a:path h="146304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4A7C6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986016" y="3291840"/>
            <a:ext cx="914400" cy="822960"/>
            <a:chOff x="0" y="0"/>
            <a:chExt cx="1219200" cy="10972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1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473" t="0" r="-6547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76200"/>
              <a:ext cx="1219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⚡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986016" y="4114800"/>
            <a:ext cx="4846320" cy="548640"/>
            <a:chOff x="0" y="0"/>
            <a:chExt cx="646176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461760" cy="731520"/>
            </a:xfrm>
            <a:custGeom>
              <a:avLst/>
              <a:gdLst/>
              <a:ahLst/>
              <a:cxnLst/>
              <a:rect r="r" b="b" t="t" l="l"/>
              <a:pathLst>
                <a:path h="73152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117" r="0" b="-12211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64617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4A7C6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PHQ-4 Quick Check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986016" y="4700016"/>
            <a:ext cx="4846320" cy="1024128"/>
            <a:chOff x="0" y="0"/>
            <a:chExt cx="6461760" cy="136550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461760" cy="1365504"/>
            </a:xfrm>
            <a:custGeom>
              <a:avLst/>
              <a:gdLst/>
              <a:ahLst/>
              <a:cxnLst/>
              <a:rect r="r" b="b" t="t" l="l"/>
              <a:pathLst>
                <a:path h="1365504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205" r="0" b="-4220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6461760" cy="14131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Ultra-brief 4-question anxiety &amp; depression screener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417552" y="3017520"/>
            <a:ext cx="5394960" cy="2889504"/>
            <a:chOff x="0" y="0"/>
            <a:chExt cx="7193280" cy="385267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193280" cy="3852672"/>
            </a:xfrm>
            <a:custGeom>
              <a:avLst/>
              <a:gdLst/>
              <a:ahLst/>
              <a:cxnLst/>
              <a:rect r="r" b="b" t="t" l="l"/>
              <a:pathLst>
                <a:path h="3852672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3852672"/>
                  </a:lnTo>
                  <a:lnTo>
                    <a:pt x="0" y="385267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417552" y="3017520"/>
            <a:ext cx="5394960" cy="109728"/>
            <a:chOff x="0" y="0"/>
            <a:chExt cx="7193280" cy="14630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193280" cy="146304"/>
            </a:xfrm>
            <a:custGeom>
              <a:avLst/>
              <a:gdLst/>
              <a:ahLst/>
              <a:cxnLst/>
              <a:rect r="r" b="b" t="t" l="l"/>
              <a:pathLst>
                <a:path h="146304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4A7C6F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691872" y="3291840"/>
            <a:ext cx="914400" cy="822960"/>
            <a:chOff x="0" y="0"/>
            <a:chExt cx="1219200" cy="10972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1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473" t="0" r="-6547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76200"/>
              <a:ext cx="1219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📚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691872" y="4114800"/>
            <a:ext cx="4846320" cy="548640"/>
            <a:chOff x="0" y="0"/>
            <a:chExt cx="6461760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461760" cy="731520"/>
            </a:xfrm>
            <a:custGeom>
              <a:avLst/>
              <a:gdLst/>
              <a:ahLst/>
              <a:cxnLst/>
              <a:rect r="r" b="b" t="t" l="l"/>
              <a:pathLst>
                <a:path h="73152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117" r="0" b="-12211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64617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4A7C6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Psychoeducation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691872" y="4700016"/>
            <a:ext cx="4846320" cy="1024128"/>
            <a:chOff x="0" y="0"/>
            <a:chExt cx="6461760" cy="136550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461760" cy="1365504"/>
            </a:xfrm>
            <a:custGeom>
              <a:avLst/>
              <a:gdLst/>
              <a:ahLst/>
              <a:cxnLst/>
              <a:rect r="r" b="b" t="t" l="l"/>
              <a:pathLst>
                <a:path h="1365504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205" r="0" b="-4220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6461760" cy="14131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Symptom library, anxiety types, what-is-anxiety explainer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05840" y="6217920"/>
            <a:ext cx="5394960" cy="2889504"/>
            <a:chOff x="0" y="0"/>
            <a:chExt cx="7193280" cy="385267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193280" cy="3852672"/>
            </a:xfrm>
            <a:custGeom>
              <a:avLst/>
              <a:gdLst/>
              <a:ahLst/>
              <a:cxnLst/>
              <a:rect r="r" b="b" t="t" l="l"/>
              <a:pathLst>
                <a:path h="3852672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3852672"/>
                  </a:lnTo>
                  <a:lnTo>
                    <a:pt x="0" y="385267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005840" y="6217920"/>
            <a:ext cx="5394960" cy="109728"/>
            <a:chOff x="0" y="0"/>
            <a:chExt cx="7193280" cy="14630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193280" cy="146304"/>
            </a:xfrm>
            <a:custGeom>
              <a:avLst/>
              <a:gdLst/>
              <a:ahLst/>
              <a:cxnLst/>
              <a:rect r="r" b="b" t="t" l="l"/>
              <a:pathLst>
                <a:path h="146304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4A7C6F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280160" y="6492240"/>
            <a:ext cx="914400" cy="822960"/>
            <a:chOff x="0" y="0"/>
            <a:chExt cx="1219200" cy="10972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21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473" t="0" r="-6547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76200"/>
              <a:ext cx="1219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🧘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80160" y="7315200"/>
            <a:ext cx="4846320" cy="548640"/>
            <a:chOff x="0" y="0"/>
            <a:chExt cx="646176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461760" cy="731520"/>
            </a:xfrm>
            <a:custGeom>
              <a:avLst/>
              <a:gdLst/>
              <a:ahLst/>
              <a:cxnLst/>
              <a:rect r="r" b="b" t="t" l="l"/>
              <a:pathLst>
                <a:path h="73152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117" r="0" b="-12211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64617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4A7C6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Coping Strategies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80160" y="7900416"/>
            <a:ext cx="4846320" cy="1024128"/>
            <a:chOff x="0" y="0"/>
            <a:chExt cx="6461760" cy="136550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461760" cy="1365504"/>
            </a:xfrm>
            <a:custGeom>
              <a:avLst/>
              <a:gdLst/>
              <a:ahLst/>
              <a:cxnLst/>
              <a:rect r="r" b="b" t="t" l="l"/>
              <a:pathLst>
                <a:path h="1365504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205" r="0" b="-4220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6461760" cy="14131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4-7-8 breathing, 5-4-3-2-1 grounding, muscle relaxation, journaling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711696" y="6217920"/>
            <a:ext cx="5394960" cy="2889504"/>
            <a:chOff x="0" y="0"/>
            <a:chExt cx="7193280" cy="385267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193280" cy="3852672"/>
            </a:xfrm>
            <a:custGeom>
              <a:avLst/>
              <a:gdLst/>
              <a:ahLst/>
              <a:cxnLst/>
              <a:rect r="r" b="b" t="t" l="l"/>
              <a:pathLst>
                <a:path h="3852672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3852672"/>
                  </a:lnTo>
                  <a:lnTo>
                    <a:pt x="0" y="385267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6711696" y="6217920"/>
            <a:ext cx="5394960" cy="109728"/>
            <a:chOff x="0" y="0"/>
            <a:chExt cx="7193280" cy="14630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193280" cy="146304"/>
            </a:xfrm>
            <a:custGeom>
              <a:avLst/>
              <a:gdLst/>
              <a:ahLst/>
              <a:cxnLst/>
              <a:rect r="r" b="b" t="t" l="l"/>
              <a:pathLst>
                <a:path h="146304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4A7C6F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6986016" y="6492240"/>
            <a:ext cx="914400" cy="822960"/>
            <a:chOff x="0" y="0"/>
            <a:chExt cx="1219200" cy="10972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21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473" t="0" r="-65473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76200"/>
              <a:ext cx="1219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🤖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6986016" y="7315200"/>
            <a:ext cx="4846320" cy="548640"/>
            <a:chOff x="0" y="0"/>
            <a:chExt cx="6461760" cy="7315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461760" cy="731520"/>
            </a:xfrm>
            <a:custGeom>
              <a:avLst/>
              <a:gdLst/>
              <a:ahLst/>
              <a:cxnLst/>
              <a:rect r="r" b="b" t="t" l="l"/>
              <a:pathLst>
                <a:path h="73152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117" r="0" b="-122117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64617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4A7C6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Calm — AI Chatbot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6812280" y="7900416"/>
            <a:ext cx="4846320" cy="1024128"/>
            <a:chOff x="0" y="0"/>
            <a:chExt cx="6461760" cy="136550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461760" cy="1365504"/>
            </a:xfrm>
            <a:custGeom>
              <a:avLst/>
              <a:gdLst/>
              <a:ahLst/>
              <a:cxnLst/>
              <a:rect r="r" b="b" t="t" l="l"/>
              <a:pathLst>
                <a:path h="1365504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205" r="0" b="-4220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6461760" cy="14131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Persistent memory companion powered by Claude API, available 24/7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417552" y="6217920"/>
            <a:ext cx="5394960" cy="2889504"/>
            <a:chOff x="0" y="0"/>
            <a:chExt cx="7193280" cy="385267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193280" cy="3852672"/>
            </a:xfrm>
            <a:custGeom>
              <a:avLst/>
              <a:gdLst/>
              <a:ahLst/>
              <a:cxnLst/>
              <a:rect r="r" b="b" t="t" l="l"/>
              <a:pathLst>
                <a:path h="3852672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3852672"/>
                  </a:lnTo>
                  <a:lnTo>
                    <a:pt x="0" y="385267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2417552" y="6217920"/>
            <a:ext cx="5394960" cy="109728"/>
            <a:chOff x="0" y="0"/>
            <a:chExt cx="7193280" cy="14630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193280" cy="146304"/>
            </a:xfrm>
            <a:custGeom>
              <a:avLst/>
              <a:gdLst/>
              <a:ahLst/>
              <a:cxnLst/>
              <a:rect r="r" b="b" t="t" l="l"/>
              <a:pathLst>
                <a:path h="146304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4A7C6F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2691872" y="6492240"/>
            <a:ext cx="914400" cy="822960"/>
            <a:chOff x="0" y="0"/>
            <a:chExt cx="1219200" cy="109728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21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473" t="0" r="-65473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76200"/>
              <a:ext cx="1219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🆘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2691872" y="7315200"/>
            <a:ext cx="4846320" cy="548640"/>
            <a:chOff x="0" y="0"/>
            <a:chExt cx="6461760" cy="73152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461760" cy="731520"/>
            </a:xfrm>
            <a:custGeom>
              <a:avLst/>
              <a:gdLst/>
              <a:ahLst/>
              <a:cxnLst/>
              <a:rect r="r" b="b" t="t" l="l"/>
              <a:pathLst>
                <a:path h="73152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117" r="0" b="-122117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64617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4A7C6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Crisis Resources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2691872" y="7900416"/>
            <a:ext cx="4846320" cy="1024128"/>
            <a:chOff x="0" y="0"/>
            <a:chExt cx="6461760" cy="136550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461760" cy="1365504"/>
            </a:xfrm>
            <a:custGeom>
              <a:avLst/>
              <a:gdLst/>
              <a:ahLst/>
              <a:cxnLst/>
              <a:rect r="r" b="b" t="t" l="l"/>
              <a:pathLst>
                <a:path h="1365504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205" r="0" b="-42205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6461760" cy="14131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Verified Indian helplines, professional directories, self-help apps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9184" cy="10287000"/>
            <a:chOff x="0" y="0"/>
            <a:chExt cx="438912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91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A7C6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" y="694944"/>
            <a:ext cx="16459200" cy="457200"/>
            <a:chOff x="0" y="0"/>
            <a:chExt cx="21945600" cy="609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999">
                  <a:solidFill>
                    <a:srgbClr val="7AAB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ARCHITECTURE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40" y="1280160"/>
            <a:ext cx="15544800" cy="1463040"/>
            <a:chOff x="0" y="0"/>
            <a:chExt cx="20726400" cy="1950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726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59"/>
                </a:lnSpc>
              </a:pPr>
              <a:r>
                <a:rPr lang="en-US" sz="68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Three-tier architecture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05840" y="3017520"/>
            <a:ext cx="16642080" cy="1920240"/>
            <a:chOff x="0" y="0"/>
            <a:chExt cx="22189440" cy="25603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89439" cy="2560320"/>
            </a:xfrm>
            <a:custGeom>
              <a:avLst/>
              <a:gdLst/>
              <a:ahLst/>
              <a:cxnLst/>
              <a:rect r="r" b="b" t="t" l="l"/>
              <a:pathLst>
                <a:path h="25603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05840" y="3017520"/>
            <a:ext cx="3474720" cy="1920240"/>
            <a:chOff x="0" y="0"/>
            <a:chExt cx="4632960" cy="25603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32960" cy="2560320"/>
            </a:xfrm>
            <a:custGeom>
              <a:avLst/>
              <a:gdLst/>
              <a:ahLst/>
              <a:cxnLst/>
              <a:rect r="r" b="b" t="t" l="l"/>
              <a:pathLst>
                <a:path h="25603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88720" y="3236976"/>
            <a:ext cx="3108960" cy="548640"/>
            <a:chOff x="0" y="0"/>
            <a:chExt cx="414528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45280" cy="731520"/>
            </a:xfrm>
            <a:custGeom>
              <a:avLst/>
              <a:gdLst/>
              <a:ahLst/>
              <a:cxnLst/>
              <a:rect r="r" b="b" t="t" l="l"/>
              <a:pathLst>
                <a:path h="7315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414528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600">
                  <a:solidFill>
                    <a:srgbClr val="D6EB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 LAYER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480560" y="3020187"/>
            <a:ext cx="12435840" cy="1609344"/>
            <a:chOff x="0" y="0"/>
            <a:chExt cx="16581120" cy="21457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58112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566" r="0" b="-10056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6581120" cy="21934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59" indent="-26543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 with HTML, CSS, and JavaScript on one page</a:t>
              </a:r>
            </a:p>
            <a:p>
              <a:pPr algn="l" marL="530859" indent="-26543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framework dependency, just plain vanilla</a:t>
              </a:r>
            </a:p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Responsive design, custom animations, and an easy-to-use interface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05840" y="5248656"/>
            <a:ext cx="16642080" cy="1920240"/>
            <a:chOff x="0" y="0"/>
            <a:chExt cx="22189440" cy="25603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189439" cy="2560320"/>
            </a:xfrm>
            <a:custGeom>
              <a:avLst/>
              <a:gdLst/>
              <a:ahLst/>
              <a:cxnLst/>
              <a:rect r="r" b="b" t="t" l="l"/>
              <a:pathLst>
                <a:path h="25603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05840" y="5248656"/>
            <a:ext cx="3474720" cy="1920240"/>
            <a:chOff x="0" y="0"/>
            <a:chExt cx="4632960" cy="25603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632960" cy="2560320"/>
            </a:xfrm>
            <a:custGeom>
              <a:avLst/>
              <a:gdLst/>
              <a:ahLst/>
              <a:cxnLst/>
              <a:rect r="r" b="b" t="t" l="l"/>
              <a:pathLst>
                <a:path h="25603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88720" y="5468112"/>
            <a:ext cx="3108960" cy="548640"/>
            <a:chOff x="0" y="0"/>
            <a:chExt cx="414528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145280" cy="731520"/>
            </a:xfrm>
            <a:custGeom>
              <a:avLst/>
              <a:gdLst/>
              <a:ahLst/>
              <a:cxnLst/>
              <a:rect r="r" b="b" t="t" l="l"/>
              <a:pathLst>
                <a:path h="7315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414528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600">
                  <a:solidFill>
                    <a:srgbClr val="7AAB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 LAYER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480560" y="5213985"/>
            <a:ext cx="12435840" cy="1609344"/>
            <a:chOff x="0" y="0"/>
            <a:chExt cx="16581120" cy="21457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58112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566" r="0" b="-10056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6581120" cy="21934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 Flask REST API</a:t>
              </a:r>
            </a:p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Modular blueprint architecture: four separate route modules</a:t>
              </a:r>
            </a:p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Flask-Limiter for limiting rates · Flask-CORS for safety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05840" y="7479792"/>
            <a:ext cx="16642080" cy="1920240"/>
            <a:chOff x="0" y="0"/>
            <a:chExt cx="22189440" cy="25603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189439" cy="2560320"/>
            </a:xfrm>
            <a:custGeom>
              <a:avLst/>
              <a:gdLst/>
              <a:ahLst/>
              <a:cxnLst/>
              <a:rect r="r" b="b" t="t" l="l"/>
              <a:pathLst>
                <a:path h="25603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05840" y="7479792"/>
            <a:ext cx="3474720" cy="1920240"/>
            <a:chOff x="0" y="0"/>
            <a:chExt cx="4632960" cy="25603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632960" cy="2560320"/>
            </a:xfrm>
            <a:custGeom>
              <a:avLst/>
              <a:gdLst/>
              <a:ahLst/>
              <a:cxnLst/>
              <a:rect r="r" b="b" t="t" l="l"/>
              <a:pathLst>
                <a:path h="25603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88720" y="7699248"/>
            <a:ext cx="3108960" cy="548640"/>
            <a:chOff x="0" y="0"/>
            <a:chExt cx="414528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145280" cy="731520"/>
            </a:xfrm>
            <a:custGeom>
              <a:avLst/>
              <a:gdLst/>
              <a:ahLst/>
              <a:cxnLst/>
              <a:rect r="r" b="b" t="t" l="l"/>
              <a:pathLst>
                <a:path h="7315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414528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600">
                  <a:solidFill>
                    <a:srgbClr val="C8B8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LAYER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480560" y="7699248"/>
            <a:ext cx="12435840" cy="1609344"/>
            <a:chOff x="0" y="0"/>
            <a:chExt cx="16581120" cy="21457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658112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566" r="0" b="-10056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16581120" cy="21934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59" indent="-26543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SQLite for development and PostgreSQL for production.</a:t>
              </a:r>
            </a:p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SQLAlchemy</a:t>
              </a:r>
              <a:r>
                <a:rPr lang="en-US" sz="2200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ORM for database abstraction.</a:t>
              </a:r>
            </a:p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Three tables: ChatSession · Message in Chat · Answer to the survey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9184" cy="10287000"/>
            <a:chOff x="0" y="0"/>
            <a:chExt cx="438912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91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A7C6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" y="694944"/>
            <a:ext cx="16459200" cy="457200"/>
            <a:chOff x="0" y="0"/>
            <a:chExt cx="21945600" cy="609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999">
                  <a:solidFill>
                    <a:srgbClr val="7AAB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 ARCHITECTURE — DEEP DIVE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40" y="1280160"/>
            <a:ext cx="15544800" cy="1463040"/>
            <a:chOff x="0" y="0"/>
            <a:chExt cx="20726400" cy="1950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726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59"/>
                </a:lnSpc>
              </a:pPr>
              <a:r>
                <a:rPr lang="en-US" sz="6800" b="true">
                  <a:solidFill>
                    <a:srgbClr val="0D1B1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Modular, testable, decoupled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05840" y="3017520"/>
            <a:ext cx="3840480" cy="2926080"/>
            <a:chOff x="0" y="0"/>
            <a:chExt cx="5120640" cy="3901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20640" cy="3901440"/>
            </a:xfrm>
            <a:custGeom>
              <a:avLst/>
              <a:gdLst/>
              <a:ahLst/>
              <a:cxnLst/>
              <a:rect r="r" b="b" t="t" l="l"/>
              <a:pathLst>
                <a:path h="39014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D6EBE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05840" y="3017520"/>
            <a:ext cx="3840480" cy="694944"/>
            <a:chOff x="0" y="0"/>
            <a:chExt cx="5120640" cy="9265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20640" cy="926592"/>
            </a:xfrm>
            <a:custGeom>
              <a:avLst/>
              <a:gdLst/>
              <a:ahLst/>
              <a:cxnLst/>
              <a:rect r="r" b="b" t="t" l="l"/>
              <a:pathLst>
                <a:path h="9265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4A7C6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52144" y="3072384"/>
            <a:ext cx="3566160" cy="548640"/>
            <a:chOff x="0" y="0"/>
            <a:chExt cx="475488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5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7548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/api/chat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88720" y="3840480"/>
            <a:ext cx="3474720" cy="1828800"/>
            <a:chOff x="0" y="0"/>
            <a:chExt cx="4632960" cy="2438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329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528" t="0" r="-17528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4632960" cy="2486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Message handling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Session management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History retrieval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175504" y="3017520"/>
            <a:ext cx="3840480" cy="2926080"/>
            <a:chOff x="0" y="0"/>
            <a:chExt cx="5120640" cy="390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20640" cy="3901440"/>
            </a:xfrm>
            <a:custGeom>
              <a:avLst/>
              <a:gdLst/>
              <a:ahLst/>
              <a:cxnLst/>
              <a:rect r="r" b="b" t="t" l="l"/>
              <a:pathLst>
                <a:path h="39014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D6EBE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175504" y="3017520"/>
            <a:ext cx="3840480" cy="694944"/>
            <a:chOff x="0" y="0"/>
            <a:chExt cx="5120640" cy="9265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120640" cy="926592"/>
            </a:xfrm>
            <a:custGeom>
              <a:avLst/>
              <a:gdLst/>
              <a:ahLst/>
              <a:cxnLst/>
              <a:rect r="r" b="b" t="t" l="l"/>
              <a:pathLst>
                <a:path h="9265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4A7C6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321808" y="3072384"/>
            <a:ext cx="3566160" cy="548640"/>
            <a:chOff x="0" y="0"/>
            <a:chExt cx="475488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75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47548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/api/survey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358384" y="3840480"/>
            <a:ext cx="3474720" cy="1828800"/>
            <a:chOff x="0" y="0"/>
            <a:chExt cx="4632960" cy="2438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6329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528" t="0" r="-17528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4632960" cy="2486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Question delivery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Answer scoring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Aggregate stats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345168" y="3017520"/>
            <a:ext cx="3840480" cy="2926080"/>
            <a:chOff x="0" y="0"/>
            <a:chExt cx="5120640" cy="39014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20640" cy="3901440"/>
            </a:xfrm>
            <a:custGeom>
              <a:avLst/>
              <a:gdLst/>
              <a:ahLst/>
              <a:cxnLst/>
              <a:rect r="r" b="b" t="t" l="l"/>
              <a:pathLst>
                <a:path h="39014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D6EBE6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345168" y="3017520"/>
            <a:ext cx="3840480" cy="694944"/>
            <a:chOff x="0" y="0"/>
            <a:chExt cx="5120640" cy="9265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20640" cy="926592"/>
            </a:xfrm>
            <a:custGeom>
              <a:avLst/>
              <a:gdLst/>
              <a:ahLst/>
              <a:cxnLst/>
              <a:rect r="r" b="b" t="t" l="l"/>
              <a:pathLst>
                <a:path h="9265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4A7C6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491472" y="3072384"/>
            <a:ext cx="3566160" cy="548640"/>
            <a:chOff x="0" y="0"/>
            <a:chExt cx="475488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75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47548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/api/anxiety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528048" y="3840480"/>
            <a:ext cx="3474720" cy="1828800"/>
            <a:chOff x="0" y="0"/>
            <a:chExt cx="4632960" cy="2438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6329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528" t="0" r="-17528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4632960" cy="2486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Psychoeducation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Coping strategies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Facts &amp; data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514832" y="3017520"/>
            <a:ext cx="3840480" cy="2926080"/>
            <a:chOff x="0" y="0"/>
            <a:chExt cx="5120640" cy="39014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120640" cy="3901440"/>
            </a:xfrm>
            <a:custGeom>
              <a:avLst/>
              <a:gdLst/>
              <a:ahLst/>
              <a:cxnLst/>
              <a:rect r="r" b="b" t="t" l="l"/>
              <a:pathLst>
                <a:path h="39014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D6EBE6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514832" y="3017520"/>
            <a:ext cx="3840480" cy="694944"/>
            <a:chOff x="0" y="0"/>
            <a:chExt cx="5120640" cy="9265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20640" cy="926592"/>
            </a:xfrm>
            <a:custGeom>
              <a:avLst/>
              <a:gdLst/>
              <a:ahLst/>
              <a:cxnLst/>
              <a:rect r="r" b="b" t="t" l="l"/>
              <a:pathLst>
                <a:path h="9265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4A7C6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661136" y="3072384"/>
            <a:ext cx="3566160" cy="548640"/>
            <a:chOff x="0" y="0"/>
            <a:chExt cx="475488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75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47548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/api/resources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697712" y="3840480"/>
            <a:ext cx="3474720" cy="1828800"/>
            <a:chOff x="0" y="0"/>
            <a:chExt cx="4632960" cy="2438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6329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528" t="0" r="-17528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4632960" cy="2486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Helplines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Professional links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Self-help apps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05840" y="6309360"/>
            <a:ext cx="16459200" cy="548640"/>
            <a:chOff x="0" y="0"/>
            <a:chExt cx="2194560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219456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4A7C6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Design Decisions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05840" y="6949440"/>
            <a:ext cx="16642080" cy="2743200"/>
            <a:chOff x="0" y="0"/>
            <a:chExt cx="22189440" cy="36576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2189439" cy="3657600"/>
            </a:xfrm>
            <a:custGeom>
              <a:avLst/>
              <a:gdLst/>
              <a:ahLst/>
              <a:cxnLst/>
              <a:rect r="r" b="b" t="t" l="l"/>
              <a:pathLst>
                <a:path h="36576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209" r="0" b="-6820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22189440" cy="3714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27379" indent="-313689" lvl="1">
                <a:lnSpc>
                  <a:spcPts val="3119"/>
                </a:lnSpc>
                <a:buFont typeface="Arial"/>
                <a:buChar char="•"/>
              </a:pPr>
              <a:r>
                <a:rPr lang="en-US" sz="25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 factory pattern — environment-specific config (dev / test / prod)</a:t>
              </a:r>
            </a:p>
            <a:p>
              <a:pPr algn="l" marL="627379" indent="-313689" lvl="1">
                <a:lnSpc>
                  <a:spcPts val="3119"/>
                </a:lnSpc>
                <a:buFont typeface="Arial"/>
                <a:buChar char="•"/>
              </a:pPr>
              <a:r>
                <a:rPr lang="en-US" sz="25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Service layer — claude_service.py and anxiety_service.py decoupled from routes</a:t>
              </a:r>
            </a:p>
            <a:p>
              <a:pPr algn="l" marL="627379" indent="-313689" lvl="1">
                <a:lnSpc>
                  <a:spcPts val="3119"/>
                </a:lnSpc>
                <a:buFont typeface="Arial"/>
                <a:buChar char="•"/>
              </a:pPr>
              <a:r>
                <a:rPr lang="en-US" sz="25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Standardised JSON response wrapper across all 12+ endpoints</a:t>
              </a:r>
            </a:p>
            <a:p>
              <a:pPr algn="l" marL="627379" indent="-313689" lvl="1">
                <a:lnSpc>
                  <a:spcPts val="3119"/>
                </a:lnSpc>
                <a:buFont typeface="Arial"/>
                <a:buChar char="•"/>
              </a:pPr>
              <a:r>
                <a:rPr lang="en-US" sz="25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Global error handlers for HTTP 400, 404, 405, 429, 500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9184" cy="10287000"/>
            <a:chOff x="0" y="0"/>
            <a:chExt cx="438912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91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A7C6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" y="694944"/>
            <a:ext cx="16459200" cy="457200"/>
            <a:chOff x="0" y="0"/>
            <a:chExt cx="21945600" cy="609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999">
                  <a:solidFill>
                    <a:srgbClr val="7AAB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DATABASE SCHEMA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40" y="1280160"/>
            <a:ext cx="15544800" cy="1463040"/>
            <a:chOff x="0" y="0"/>
            <a:chExt cx="20726400" cy="1950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726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59"/>
                </a:lnSpc>
              </a:pPr>
              <a:r>
                <a:rPr lang="en-US" sz="68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Three tables — fully anonymous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05840" y="3017520"/>
            <a:ext cx="5394960" cy="6035040"/>
            <a:chOff x="0" y="0"/>
            <a:chExt cx="7193280" cy="8046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93280" cy="8046720"/>
            </a:xfrm>
            <a:custGeom>
              <a:avLst/>
              <a:gdLst/>
              <a:ahLst/>
              <a:cxnLst/>
              <a:rect r="r" b="b" t="t" l="l"/>
              <a:pathLst>
                <a:path h="804672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8046720"/>
                  </a:lnTo>
                  <a:lnTo>
                    <a:pt x="0" y="8046720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05840" y="3017520"/>
            <a:ext cx="5394960" cy="731520"/>
            <a:chOff x="0" y="0"/>
            <a:chExt cx="7193280" cy="975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93280" cy="975360"/>
            </a:xfrm>
            <a:custGeom>
              <a:avLst/>
              <a:gdLst/>
              <a:ahLst/>
              <a:cxnLst/>
              <a:rect r="r" b="b" t="t" l="l"/>
              <a:pathLst>
                <a:path h="97536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4A7C6F">
                <a:alpha val="63922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88720" y="3072384"/>
            <a:ext cx="5029200" cy="585216"/>
            <a:chOff x="0" y="0"/>
            <a:chExt cx="6705600" cy="7802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70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449" r="0" b="-11744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7056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ChatSession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25296" y="3877056"/>
            <a:ext cx="4937760" cy="4937760"/>
            <a:chOff x="0" y="0"/>
            <a:chExt cx="6583680" cy="65836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583680" cy="6583680"/>
            </a:xfrm>
            <a:custGeom>
              <a:avLst/>
              <a:gdLst/>
              <a:ahLst/>
              <a:cxnLst/>
              <a:rect r="r" b="b" t="t" l="l"/>
              <a:pathLst>
                <a:path h="65836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583680"/>
                  </a:lnTo>
                  <a:lnTo>
                    <a:pt x="0" y="6583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583680" cy="6621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  —  UUID primary key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created_at  —  DateTime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last_active  —  DateTime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One-to-many with ChatMessage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711696" y="3017520"/>
            <a:ext cx="5394960" cy="6035040"/>
            <a:chOff x="0" y="0"/>
            <a:chExt cx="7193280" cy="8046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93280" cy="8046720"/>
            </a:xfrm>
            <a:custGeom>
              <a:avLst/>
              <a:gdLst/>
              <a:ahLst/>
              <a:cxnLst/>
              <a:rect r="r" b="b" t="t" l="l"/>
              <a:pathLst>
                <a:path h="804672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8046720"/>
                  </a:lnTo>
                  <a:lnTo>
                    <a:pt x="0" y="8046720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711696" y="3017520"/>
            <a:ext cx="5394960" cy="731520"/>
            <a:chOff x="0" y="0"/>
            <a:chExt cx="7193280" cy="9753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93280" cy="975360"/>
            </a:xfrm>
            <a:custGeom>
              <a:avLst/>
              <a:gdLst/>
              <a:ahLst/>
              <a:cxnLst/>
              <a:rect r="r" b="b" t="t" l="l"/>
              <a:pathLst>
                <a:path h="97536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7AAB9C">
                <a:alpha val="63922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894576" y="3072384"/>
            <a:ext cx="5029200" cy="585216"/>
            <a:chOff x="0" y="0"/>
            <a:chExt cx="6705600" cy="7802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70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449" r="0" b="-11744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67056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ChatMessage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931152" y="3877056"/>
            <a:ext cx="4937760" cy="4937760"/>
            <a:chOff x="0" y="0"/>
            <a:chExt cx="6583680" cy="65836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583680" cy="6583680"/>
            </a:xfrm>
            <a:custGeom>
              <a:avLst/>
              <a:gdLst/>
              <a:ahLst/>
              <a:cxnLst/>
              <a:rect r="r" b="b" t="t" l="l"/>
              <a:pathLst>
                <a:path h="65836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583680"/>
                  </a:lnTo>
                  <a:lnTo>
                    <a:pt x="0" y="6583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583680" cy="6621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  —  Integer PK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session_id  —  FK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role  —  user | assistant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content  —  Text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created_at  —  DateTime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417552" y="3017520"/>
            <a:ext cx="5394960" cy="6035040"/>
            <a:chOff x="0" y="0"/>
            <a:chExt cx="7193280" cy="80467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193280" cy="8046720"/>
            </a:xfrm>
            <a:custGeom>
              <a:avLst/>
              <a:gdLst/>
              <a:ahLst/>
              <a:cxnLst/>
              <a:rect r="r" b="b" t="t" l="l"/>
              <a:pathLst>
                <a:path h="804672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8046720"/>
                  </a:lnTo>
                  <a:lnTo>
                    <a:pt x="0" y="8046720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417552" y="3017520"/>
            <a:ext cx="5394960" cy="731520"/>
            <a:chOff x="0" y="0"/>
            <a:chExt cx="7193280" cy="9753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193280" cy="975360"/>
            </a:xfrm>
            <a:custGeom>
              <a:avLst/>
              <a:gdLst/>
              <a:ahLst/>
              <a:cxnLst/>
              <a:rect r="r" b="b" t="t" l="l"/>
              <a:pathLst>
                <a:path h="97536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C8B89A">
                <a:alpha val="63922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600432" y="3072384"/>
            <a:ext cx="5029200" cy="585216"/>
            <a:chOff x="0" y="0"/>
            <a:chExt cx="6705600" cy="78028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70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449" r="0" b="-11744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7056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SurveyResponse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637008" y="3877056"/>
            <a:ext cx="4937760" cy="4937760"/>
            <a:chOff x="0" y="0"/>
            <a:chExt cx="6583680" cy="65836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583680" cy="6583680"/>
            </a:xfrm>
            <a:custGeom>
              <a:avLst/>
              <a:gdLst/>
              <a:ahLst/>
              <a:cxnLst/>
              <a:rect r="r" b="b" t="t" l="l"/>
              <a:pathLst>
                <a:path h="65836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583680"/>
                  </a:lnTo>
                  <a:lnTo>
                    <a:pt x="0" y="6583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6583680" cy="6621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  —  Integer PK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survey_type  —  GAD7 | PHQ4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q1–q7  —  Integer scores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total_score  —  Integer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severity_level  —  String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created_at  —  DateTime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05840" y="9363456"/>
            <a:ext cx="16642080" cy="512064"/>
            <a:chOff x="0" y="0"/>
            <a:chExt cx="22189440" cy="68275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189439" cy="682752"/>
            </a:xfrm>
            <a:custGeom>
              <a:avLst/>
              <a:gdLst/>
              <a:ahLst/>
              <a:cxnLst/>
              <a:rect r="r" b="b" t="t" l="l"/>
              <a:pathLst>
                <a:path h="68275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3263" r="0" b="-58326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221894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i="true">
                  <a:solidFill>
                    <a:srgbClr val="C8B89A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Privacy by design — no login, no name, no email ever collected.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9184" cy="10287000"/>
            <a:chOff x="0" y="0"/>
            <a:chExt cx="438912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91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A7C6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" y="330550"/>
            <a:ext cx="16459200" cy="387204"/>
            <a:chOff x="0" y="0"/>
            <a:chExt cx="21945600" cy="5162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516272"/>
            </a:xfrm>
            <a:custGeom>
              <a:avLst/>
              <a:gdLst/>
              <a:ahLst/>
              <a:cxnLst/>
              <a:rect r="r" b="b" t="t" l="l"/>
              <a:pathLst>
                <a:path h="51627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6272"/>
                  </a:lnTo>
                  <a:lnTo>
                    <a:pt x="0" y="516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9228" r="0" b="-78730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0" cy="554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999">
                  <a:solidFill>
                    <a:srgbClr val="7AAB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CHATBOT — CALM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483820"/>
            <a:ext cx="15544800" cy="2314625"/>
            <a:chOff x="0" y="0"/>
            <a:chExt cx="20726400" cy="30861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3086166"/>
            </a:xfrm>
            <a:custGeom>
              <a:avLst/>
              <a:gdLst/>
              <a:ahLst/>
              <a:cxnLst/>
              <a:rect r="r" b="b" t="t" l="l"/>
              <a:pathLst>
                <a:path h="3086166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3086166"/>
                  </a:lnTo>
                  <a:lnTo>
                    <a:pt x="0" y="30861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255" r="0" b="-6246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726400" cy="30956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59"/>
                </a:lnSpc>
              </a:pPr>
              <a:r>
                <a:rPr lang="en-US" sz="6800" b="true">
                  <a:solidFill>
                    <a:srgbClr val="0D1B1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How memory works without a login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05840" y="3017520"/>
            <a:ext cx="694944" cy="694944"/>
            <a:chOff x="0" y="0"/>
            <a:chExt cx="926592" cy="9265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4A7C6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05840" y="3017520"/>
            <a:ext cx="694944" cy="694944"/>
            <a:chOff x="0" y="0"/>
            <a:chExt cx="926592" cy="9265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920240" y="3089910"/>
            <a:ext cx="10424160" cy="548640"/>
            <a:chOff x="0" y="0"/>
            <a:chExt cx="1389888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898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38988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First message → backend creates a new ChatSession → returns session_id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05840" y="4041648"/>
            <a:ext cx="694944" cy="694944"/>
            <a:chOff x="0" y="0"/>
            <a:chExt cx="926592" cy="9265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4A7C6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05840" y="4041648"/>
            <a:ext cx="694944" cy="694944"/>
            <a:chOff x="0" y="0"/>
            <a:chExt cx="926592" cy="9265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920240" y="4114800"/>
            <a:ext cx="10424160" cy="548640"/>
            <a:chOff x="0" y="0"/>
            <a:chExt cx="1389888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898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38988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Frontend stores session_id in localStorage (persists across page reloads)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05840" y="5065776"/>
            <a:ext cx="694944" cy="694944"/>
            <a:chOff x="0" y="0"/>
            <a:chExt cx="926592" cy="9265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4A7C6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05840" y="5065776"/>
            <a:ext cx="694944" cy="694944"/>
            <a:chOff x="0" y="0"/>
            <a:chExt cx="926592" cy="92659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920240" y="5138928"/>
            <a:ext cx="10424160" cy="548640"/>
            <a:chOff x="0" y="0"/>
            <a:chExt cx="1389888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898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38988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subsequent message includes the session_id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05840" y="6089904"/>
            <a:ext cx="694944" cy="694944"/>
            <a:chOff x="0" y="0"/>
            <a:chExt cx="926592" cy="9265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4A7C6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05840" y="6089904"/>
            <a:ext cx="694944" cy="694944"/>
            <a:chOff x="0" y="0"/>
            <a:chExt cx="926592" cy="92659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920240" y="6163056"/>
            <a:ext cx="10424160" cy="548640"/>
            <a:chOff x="0" y="0"/>
            <a:chExt cx="1389888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898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38988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Backend fetches last 20 messages from the database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05840" y="7114032"/>
            <a:ext cx="694944" cy="694944"/>
            <a:chOff x="0" y="0"/>
            <a:chExt cx="926592" cy="9265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4A7C6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05840" y="7114032"/>
            <a:ext cx="694944" cy="694944"/>
            <a:chOff x="0" y="0"/>
            <a:chExt cx="926592" cy="9265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920240" y="7187184"/>
            <a:ext cx="10424160" cy="548640"/>
            <a:chOff x="0" y="0"/>
            <a:chExt cx="1389888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898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38988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conversation history passed to Claude API on every call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05840" y="8138160"/>
            <a:ext cx="694944" cy="694944"/>
            <a:chOff x="0" y="0"/>
            <a:chExt cx="926592" cy="9265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4A7C6F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05840" y="8138160"/>
            <a:ext cx="694944" cy="694944"/>
            <a:chOff x="0" y="0"/>
            <a:chExt cx="926592" cy="92659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920240" y="8211312"/>
            <a:ext cx="10424160" cy="548640"/>
            <a:chOff x="0" y="0"/>
            <a:chExt cx="1389888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3898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138988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Response saved to DB — memory persists seamlessly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893040" y="3017520"/>
            <a:ext cx="4846320" cy="5120640"/>
            <a:chOff x="0" y="0"/>
            <a:chExt cx="6461760" cy="68275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461760" cy="6827520"/>
            </a:xfrm>
            <a:custGeom>
              <a:avLst/>
              <a:gdLst/>
              <a:ahLst/>
              <a:cxnLst/>
              <a:rect r="r" b="b" t="t" l="l"/>
              <a:pathLst>
                <a:path h="682752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D6EBE6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3075920" y="3255264"/>
            <a:ext cx="4480560" cy="640080"/>
            <a:chOff x="0" y="0"/>
            <a:chExt cx="5974080" cy="8534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974080" cy="853440"/>
            </a:xfrm>
            <a:custGeom>
              <a:avLst/>
              <a:gdLst/>
              <a:ahLst/>
              <a:cxnLst/>
              <a:rect r="r" b="b" t="t" l="l"/>
              <a:pathLst>
                <a:path h="853440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597408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4A7C6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Prompt Engineering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3020675" y="3950208"/>
            <a:ext cx="4480560" cy="4261104"/>
            <a:chOff x="0" y="0"/>
            <a:chExt cx="5974080" cy="568147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974080" cy="5681472"/>
            </a:xfrm>
            <a:custGeom>
              <a:avLst/>
              <a:gdLst/>
              <a:ahLst/>
              <a:cxnLst/>
              <a:rect r="r" b="b" t="t" l="l"/>
              <a:pathLst>
                <a:path h="5681472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5681472"/>
                  </a:lnTo>
                  <a:lnTo>
                    <a:pt x="0" y="5681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1869" t="0" r="-101869" b="-24463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5974080" cy="57195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Role-scoped: awareness companion, not a therapist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Crisis escalation: helplines surface if distress detected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Tone-constrained: warm, non-clinical, empowering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Model: claude-sonnet-4 via Anthropic API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Rate limited: 30 messages per minute per IP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9184" cy="10287000"/>
            <a:chOff x="0" y="0"/>
            <a:chExt cx="438912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91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A7C6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" y="694944"/>
            <a:ext cx="16459200" cy="457200"/>
            <a:chOff x="0" y="0"/>
            <a:chExt cx="21945600" cy="609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999">
                  <a:solidFill>
                    <a:srgbClr val="7AAB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SURVEY SCORING — CLINICAL VALIDATION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40" y="923544"/>
            <a:ext cx="15544800" cy="2314625"/>
            <a:chOff x="0" y="0"/>
            <a:chExt cx="20726400" cy="30861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3086166"/>
            </a:xfrm>
            <a:custGeom>
              <a:avLst/>
              <a:gdLst/>
              <a:ahLst/>
              <a:cxnLst/>
              <a:rect r="r" b="b" t="t" l="l"/>
              <a:pathLst>
                <a:path h="3086166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3086166"/>
                  </a:lnTo>
                  <a:lnTo>
                    <a:pt x="0" y="30861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255" r="0" b="-6246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726400" cy="30956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59"/>
                </a:lnSpc>
              </a:pPr>
              <a:r>
                <a:rPr lang="en-US" sz="68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Built on peer-reviewed instruments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05840" y="3017520"/>
            <a:ext cx="8046720" cy="6583680"/>
            <a:chOff x="0" y="0"/>
            <a:chExt cx="10728960" cy="87782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28960" cy="8778240"/>
            </a:xfrm>
            <a:custGeom>
              <a:avLst/>
              <a:gdLst/>
              <a:ahLst/>
              <a:cxnLst/>
              <a:rect r="r" b="b" t="t" l="l"/>
              <a:pathLst>
                <a:path h="87782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8778240"/>
                  </a:lnTo>
                  <a:lnTo>
                    <a:pt x="0" y="8778240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05840" y="3017520"/>
            <a:ext cx="8046720" cy="731520"/>
            <a:chOff x="0" y="0"/>
            <a:chExt cx="10728960" cy="975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28960" cy="975360"/>
            </a:xfrm>
            <a:custGeom>
              <a:avLst/>
              <a:gdLst/>
              <a:ahLst/>
              <a:cxnLst/>
              <a:rect r="r" b="b" t="t" l="l"/>
              <a:pathLst>
                <a:path h="9753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4A7C6F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88720" y="3072384"/>
            <a:ext cx="7680960" cy="585216"/>
            <a:chOff x="0" y="0"/>
            <a:chExt cx="10241280" cy="7802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780288"/>
            </a:xfrm>
            <a:custGeom>
              <a:avLst/>
              <a:gdLst/>
              <a:ahLst/>
              <a:cxnLst/>
              <a:rect r="r" b="b" t="t" l="l"/>
              <a:pathLst>
                <a:path h="7802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024128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GAD-7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05840" y="3954780"/>
            <a:ext cx="7680960" cy="5303520"/>
            <a:chOff x="0" y="0"/>
            <a:chExt cx="10241280" cy="7071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41280" cy="7071360"/>
            </a:xfrm>
            <a:custGeom>
              <a:avLst/>
              <a:gdLst/>
              <a:ahLst/>
              <a:cxnLst/>
              <a:rect r="r" b="b" t="t" l="l"/>
              <a:pathLst>
                <a:path h="70713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071360"/>
                  </a:lnTo>
                  <a:lnTo>
                    <a:pt x="0" y="7071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590" t="0" r="-3859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241280" cy="7109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7AAB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Generalised Anxiety Disorder 7-item Scale</a:t>
              </a:r>
            </a:p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7A8A8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Spitzer, Williams &amp; Kroenke — JAMA Int. Med. 2006</a:t>
              </a:r>
            </a:p>
            <a:p>
              <a:pPr algn="l">
                <a:lnSpc>
                  <a:spcPts val="2400"/>
                </a:lnSpc>
              </a:pPr>
            </a:p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D6EB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Sensitivity: 89%  ·  Specificity: 82%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0–4: Minimal  ·  5–9: Mild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10–14: Moderate  ·  15–21: Severe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Copyright-free since 2010 (Pfizer release)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09760" y="3017520"/>
            <a:ext cx="8138160" cy="6583680"/>
            <a:chOff x="0" y="0"/>
            <a:chExt cx="10850880" cy="87782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850880" cy="8778240"/>
            </a:xfrm>
            <a:custGeom>
              <a:avLst/>
              <a:gdLst/>
              <a:ahLst/>
              <a:cxnLst/>
              <a:rect r="r" b="b" t="t" l="l"/>
              <a:pathLst>
                <a:path h="8778240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8778240"/>
                  </a:lnTo>
                  <a:lnTo>
                    <a:pt x="0" y="8778240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509760" y="3017520"/>
            <a:ext cx="8138160" cy="731520"/>
            <a:chOff x="0" y="0"/>
            <a:chExt cx="10850880" cy="9753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850880" cy="975360"/>
            </a:xfrm>
            <a:custGeom>
              <a:avLst/>
              <a:gdLst/>
              <a:ahLst/>
              <a:cxnLst/>
              <a:rect r="r" b="b" t="t" l="l"/>
              <a:pathLst>
                <a:path h="975360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7AAB9C">
                <a:alpha val="48627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692640" y="3072384"/>
            <a:ext cx="7772400" cy="585216"/>
            <a:chOff x="0" y="0"/>
            <a:chExt cx="10363200" cy="7802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363200" cy="780288"/>
            </a:xfrm>
            <a:custGeom>
              <a:avLst/>
              <a:gdLst/>
              <a:ahLst/>
              <a:cxnLst/>
              <a:rect r="r" b="b" t="t" l="l"/>
              <a:pathLst>
                <a:path h="780288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785" r="0" b="-20878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03632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PHQ-4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509760" y="4297680"/>
            <a:ext cx="7772400" cy="5303520"/>
            <a:chOff x="0" y="0"/>
            <a:chExt cx="10363200" cy="7071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363200" cy="7071360"/>
            </a:xfrm>
            <a:custGeom>
              <a:avLst/>
              <a:gdLst/>
              <a:ahLst/>
              <a:cxnLst/>
              <a:rect r="r" b="b" t="t" l="l"/>
              <a:pathLst>
                <a:path h="707136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7071360"/>
                  </a:lnTo>
                  <a:lnTo>
                    <a:pt x="0" y="7071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548" t="0" r="-37548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0363200" cy="7118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7AAB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Patient Health Questionnaire — 4 items</a:t>
              </a:r>
            </a:p>
            <a:p>
              <a:pPr algn="l">
                <a:lnSpc>
                  <a:spcPts val="2999"/>
                </a:lnSpc>
              </a:pPr>
              <a:r>
                <a:rPr lang="en-US" sz="2499" i="true">
                  <a:solidFill>
                    <a:srgbClr val="7A8A8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Kroenke, Spitzer, Williams &amp; Löwe — 2009</a:t>
              </a: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D6EB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Validated for college student populations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Anxiety subscale (Q1–Q2): GAD-2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Depression subscale (Q3–Q4): PHQ-2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0–2: Normal  ·  3–5: Mild  ·  6–8: Mod  ·  9–12: Severe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9184" cy="10287000"/>
            <a:chOff x="0" y="0"/>
            <a:chExt cx="438912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91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A7C6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" y="694944"/>
            <a:ext cx="16459200" cy="457200"/>
            <a:chOff x="0" y="0"/>
            <a:chExt cx="21945600" cy="609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999">
                  <a:solidFill>
                    <a:srgbClr val="7AAB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 STACK SUMMARY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40" y="1280160"/>
            <a:ext cx="15544800" cy="1463040"/>
            <a:chOff x="0" y="0"/>
            <a:chExt cx="20726400" cy="1950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726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59"/>
                </a:lnSpc>
              </a:pPr>
              <a:r>
                <a:rPr lang="en-US" sz="6800" b="true">
                  <a:solidFill>
                    <a:srgbClr val="0D1B1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What the project is built with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05840" y="3017520"/>
            <a:ext cx="5394960" cy="6766560"/>
            <a:chOff x="0" y="0"/>
            <a:chExt cx="7193280" cy="9022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93280" cy="9022080"/>
            </a:xfrm>
            <a:custGeom>
              <a:avLst/>
              <a:gdLst/>
              <a:ahLst/>
              <a:cxnLst/>
              <a:rect r="r" b="b" t="t" l="l"/>
              <a:pathLst>
                <a:path h="902208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9022080"/>
                  </a:lnTo>
                  <a:lnTo>
                    <a:pt x="0" y="90220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05840" y="3017520"/>
            <a:ext cx="5394960" cy="768096"/>
            <a:chOff x="0" y="0"/>
            <a:chExt cx="7193280" cy="10241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93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4A7C6F">
                <a:alpha val="7215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25296" y="3072384"/>
            <a:ext cx="4937760" cy="585216"/>
            <a:chOff x="0" y="0"/>
            <a:chExt cx="6583680" cy="7802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83680" cy="780288"/>
            </a:xfrm>
            <a:custGeom>
              <a:avLst/>
              <a:gdLst/>
              <a:ahLst/>
              <a:cxnLst/>
              <a:rect r="r" b="b" t="t" l="l"/>
              <a:pathLst>
                <a:path h="78028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405" r="0" b="-11440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658368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25296" y="3931920"/>
            <a:ext cx="4937760" cy="5486400"/>
            <a:chOff x="0" y="0"/>
            <a:chExt cx="6583680" cy="7315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583680" cy="7315200"/>
            </a:xfrm>
            <a:custGeom>
              <a:avLst/>
              <a:gdLst/>
              <a:ahLst/>
              <a:cxnLst/>
              <a:rect r="r" b="b" t="t" l="l"/>
              <a:pathLst>
                <a:path h="73152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0"/>
                  </a:lnTo>
                  <a:lnTo>
                    <a:pt x="0" y="731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6583680" cy="7362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54989" indent="-277494" lvl="1">
                <a:lnSpc>
                  <a:spcPts val="2759"/>
                </a:lnSpc>
                <a:buFont typeface="Arial"/>
                <a:buChar char="•"/>
              </a:pPr>
              <a:r>
                <a:rPr lang="en-US" sz="22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 3.11</a:t>
              </a:r>
            </a:p>
            <a:p>
              <a:pPr algn="l" marL="554989" indent="-277494" lvl="1">
                <a:lnSpc>
                  <a:spcPts val="2759"/>
                </a:lnSpc>
                <a:buFont typeface="Arial"/>
                <a:buChar char="•"/>
              </a:pPr>
              <a:r>
                <a:rPr lang="en-US" sz="22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Flask 3.0</a:t>
              </a:r>
            </a:p>
            <a:p>
              <a:pPr algn="l" marL="554989" indent="-277494" lvl="1">
                <a:lnSpc>
                  <a:spcPts val="2759"/>
                </a:lnSpc>
                <a:buFont typeface="Arial"/>
                <a:buChar char="•"/>
              </a:pPr>
              <a:r>
                <a:rPr lang="en-US" sz="22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SQLAlchemy ORM</a:t>
              </a:r>
            </a:p>
            <a:p>
              <a:pPr algn="l" marL="554989" indent="-277494" lvl="1">
                <a:lnSpc>
                  <a:spcPts val="2759"/>
                </a:lnSpc>
                <a:buFont typeface="Arial"/>
                <a:buChar char="•"/>
              </a:pPr>
              <a:r>
                <a:rPr lang="en-US" sz="22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Flask-CORS + Flask-Limiter</a:t>
              </a:r>
            </a:p>
            <a:p>
              <a:pPr algn="l" marL="554989" indent="-277494" lvl="1">
                <a:lnSpc>
                  <a:spcPts val="2759"/>
                </a:lnSpc>
                <a:buFont typeface="Arial"/>
                <a:buChar char="•"/>
              </a:pPr>
              <a:r>
                <a:rPr lang="en-US" sz="22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Anthropic Python SDK</a:t>
              </a:r>
            </a:p>
            <a:p>
              <a:pPr algn="l" marL="554989" indent="-277494" lvl="1">
                <a:lnSpc>
                  <a:spcPts val="2759"/>
                </a:lnSpc>
                <a:buFont typeface="Arial"/>
                <a:buChar char="•"/>
              </a:pPr>
              <a:r>
                <a:rPr lang="en-US" sz="22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Gunicorn (production)</a:t>
              </a:r>
            </a:p>
            <a:p>
              <a:pPr algn="l" marL="554989" indent="-277494" lvl="1">
                <a:lnSpc>
                  <a:spcPts val="2759"/>
                </a:lnSpc>
                <a:buFont typeface="Arial"/>
                <a:buChar char="•"/>
              </a:pPr>
              <a:r>
                <a:rPr lang="en-US" sz="22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python-dotenv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711696" y="3017520"/>
            <a:ext cx="5394960" cy="6766560"/>
            <a:chOff x="0" y="0"/>
            <a:chExt cx="7193280" cy="9022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93280" cy="9022080"/>
            </a:xfrm>
            <a:custGeom>
              <a:avLst/>
              <a:gdLst/>
              <a:ahLst/>
              <a:cxnLst/>
              <a:rect r="r" b="b" t="t" l="l"/>
              <a:pathLst>
                <a:path h="902208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9022080"/>
                  </a:lnTo>
                  <a:lnTo>
                    <a:pt x="0" y="90220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711696" y="3017520"/>
            <a:ext cx="5394960" cy="768096"/>
            <a:chOff x="0" y="0"/>
            <a:chExt cx="7193280" cy="10241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93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7AAB9C">
                <a:alpha val="72157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931152" y="3072384"/>
            <a:ext cx="4937760" cy="585216"/>
            <a:chOff x="0" y="0"/>
            <a:chExt cx="6583680" cy="7802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583680" cy="780288"/>
            </a:xfrm>
            <a:custGeom>
              <a:avLst/>
              <a:gdLst/>
              <a:ahLst/>
              <a:cxnLst/>
              <a:rect r="r" b="b" t="t" l="l"/>
              <a:pathLst>
                <a:path h="78028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405" r="0" b="-11440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658368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400800" y="3785616"/>
            <a:ext cx="4937760" cy="5486400"/>
            <a:chOff x="0" y="0"/>
            <a:chExt cx="6583680" cy="7315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583680" cy="7315200"/>
            </a:xfrm>
            <a:custGeom>
              <a:avLst/>
              <a:gdLst/>
              <a:ahLst/>
              <a:cxnLst/>
              <a:rect r="r" b="b" t="t" l="l"/>
              <a:pathLst>
                <a:path h="73152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0"/>
                  </a:lnTo>
                  <a:lnTo>
                    <a:pt x="0" y="731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6583680" cy="7362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54989" indent="-277494" lvl="1">
                <a:lnSpc>
                  <a:spcPts val="2759"/>
                </a:lnSpc>
                <a:buFont typeface="Arial"/>
                <a:buChar char="•"/>
              </a:pPr>
              <a:r>
                <a:rPr lang="en-US" sz="22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Vanilla HTML5 / CSS3</a:t>
              </a:r>
            </a:p>
            <a:p>
              <a:pPr algn="l" marL="554989" indent="-277494" lvl="1">
                <a:lnSpc>
                  <a:spcPts val="2759"/>
                </a:lnSpc>
                <a:buFont typeface="Arial"/>
                <a:buChar char="•"/>
              </a:pPr>
              <a:r>
                <a:rPr lang="en-US" sz="22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JavaScript ES6+</a:t>
              </a:r>
            </a:p>
            <a:p>
              <a:pPr algn="l" marL="554989" indent="-277494" lvl="1">
                <a:lnSpc>
                  <a:spcPts val="2759"/>
                </a:lnSpc>
                <a:buFont typeface="Arial"/>
                <a:buChar char="•"/>
              </a:pPr>
              <a:r>
                <a:rPr lang="en-US" sz="22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Google Fonts (DM Serif + DM Sans)</a:t>
              </a:r>
            </a:p>
            <a:p>
              <a:pPr algn="l" marL="554989" indent="-277494" lvl="1">
                <a:lnSpc>
                  <a:spcPts val="2759"/>
                </a:lnSpc>
                <a:buFont typeface="Arial"/>
                <a:buChar char="•"/>
              </a:pPr>
              <a:r>
                <a:rPr lang="en-US" sz="22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Zero external JS dependencies</a:t>
              </a:r>
            </a:p>
            <a:p>
              <a:pPr algn="l" marL="554989" indent="-277494" lvl="1">
                <a:lnSpc>
                  <a:spcPts val="2759"/>
                </a:lnSpc>
                <a:buFont typeface="Arial"/>
                <a:buChar char="•"/>
              </a:pPr>
              <a:r>
                <a:rPr lang="en-US" sz="22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 animations &amp; cursor</a:t>
              </a:r>
            </a:p>
            <a:p>
              <a:pPr algn="l" marL="554989" indent="-277494" lvl="1">
                <a:lnSpc>
                  <a:spcPts val="2759"/>
                </a:lnSpc>
                <a:buFont typeface="Arial"/>
                <a:buChar char="•"/>
              </a:pPr>
              <a:r>
                <a:rPr lang="en-US" sz="22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Responsive single-page app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417552" y="3017520"/>
            <a:ext cx="5394960" cy="6766560"/>
            <a:chOff x="0" y="0"/>
            <a:chExt cx="7193280" cy="90220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193280" cy="9022080"/>
            </a:xfrm>
            <a:custGeom>
              <a:avLst/>
              <a:gdLst/>
              <a:ahLst/>
              <a:cxnLst/>
              <a:rect r="r" b="b" t="t" l="l"/>
              <a:pathLst>
                <a:path h="902208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9022080"/>
                  </a:lnTo>
                  <a:lnTo>
                    <a:pt x="0" y="90220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417552" y="3017520"/>
            <a:ext cx="5394960" cy="768096"/>
            <a:chOff x="0" y="0"/>
            <a:chExt cx="7193280" cy="10241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193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C8B89A">
                <a:alpha val="72157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637008" y="3072384"/>
            <a:ext cx="4937760" cy="585216"/>
            <a:chOff x="0" y="0"/>
            <a:chExt cx="6583680" cy="78028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583680" cy="780288"/>
            </a:xfrm>
            <a:custGeom>
              <a:avLst/>
              <a:gdLst/>
              <a:ahLst/>
              <a:cxnLst/>
              <a:rect r="r" b="b" t="t" l="l"/>
              <a:pathLst>
                <a:path h="78028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405" r="0" b="-11440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658368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Database &amp; Testing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417552" y="3657600"/>
            <a:ext cx="4937760" cy="5486400"/>
            <a:chOff x="0" y="0"/>
            <a:chExt cx="6583680" cy="7315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583680" cy="7315200"/>
            </a:xfrm>
            <a:custGeom>
              <a:avLst/>
              <a:gdLst/>
              <a:ahLst/>
              <a:cxnLst/>
              <a:rect r="r" b="b" t="t" l="l"/>
              <a:pathLst>
                <a:path h="73152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0"/>
                  </a:lnTo>
                  <a:lnTo>
                    <a:pt x="0" y="731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6583680" cy="7362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54989" indent="-277494" lvl="1">
                <a:lnSpc>
                  <a:spcPts val="2759"/>
                </a:lnSpc>
                <a:buFont typeface="Arial"/>
                <a:buChar char="•"/>
              </a:pPr>
              <a:r>
                <a:rPr lang="en-US" sz="22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SQLite (development)</a:t>
              </a:r>
            </a:p>
            <a:p>
              <a:pPr algn="l" marL="554989" indent="-277494" lvl="1">
                <a:lnSpc>
                  <a:spcPts val="2759"/>
                </a:lnSpc>
                <a:buFont typeface="Arial"/>
                <a:buChar char="•"/>
              </a:pPr>
              <a:r>
                <a:rPr lang="en-US" sz="22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PostgreSQL-ready (production)</a:t>
              </a:r>
            </a:p>
            <a:p>
              <a:pPr algn="l" marL="554989" indent="-277494" lvl="1">
                <a:lnSpc>
                  <a:spcPts val="2759"/>
                </a:lnSpc>
                <a:buFont typeface="Arial"/>
                <a:buChar char="•"/>
              </a:pPr>
              <a:r>
                <a:rPr lang="en-US" sz="22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SQLAlchemy for ORM abstraction</a:t>
              </a:r>
            </a:p>
            <a:p>
              <a:pPr algn="l" marL="554989" indent="-277494" lvl="1">
                <a:lnSpc>
                  <a:spcPts val="2759"/>
                </a:lnSpc>
                <a:buFont typeface="Arial"/>
                <a:buChar char="•"/>
              </a:pPr>
              <a:r>
                <a:rPr lang="en-US" sz="22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pytest unit tests</a:t>
              </a:r>
            </a:p>
            <a:p>
              <a:pPr algn="l" marL="554989" indent="-277494" lvl="1">
                <a:lnSpc>
                  <a:spcPts val="2759"/>
                </a:lnSpc>
                <a:buFont typeface="Arial"/>
                <a:buChar char="•"/>
              </a:pPr>
              <a:r>
                <a:rPr lang="en-US" sz="22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GAD-7 + PHQ-4 edge case coverage</a:t>
              </a:r>
            </a:p>
            <a:p>
              <a:pPr algn="l" marL="554989" indent="-277494" lvl="1">
                <a:lnSpc>
                  <a:spcPts val="2759"/>
                </a:lnSpc>
                <a:buFont typeface="Arial"/>
                <a:buChar char="•"/>
              </a:pPr>
              <a:r>
                <a:rPr lang="en-US" sz="22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Wrong length / out-of-range / invalid type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9184" cy="10287000"/>
            <a:chOff x="0" y="0"/>
            <a:chExt cx="438912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91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A7C6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" y="694944"/>
            <a:ext cx="16459200" cy="457200"/>
            <a:chOff x="0" y="0"/>
            <a:chExt cx="21945600" cy="609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999">
                  <a:solidFill>
                    <a:srgbClr val="7AAB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API ENDPOINTS REFERENCE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40" y="1280160"/>
            <a:ext cx="15544800" cy="1463040"/>
            <a:chOff x="0" y="0"/>
            <a:chExt cx="20726400" cy="1950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726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59"/>
                </a:lnSpc>
              </a:pPr>
              <a:r>
                <a:rPr lang="en-US" sz="68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12 endpoints across 4 blueprints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05840" y="2962656"/>
            <a:ext cx="8046720" cy="3255264"/>
            <a:chOff x="0" y="0"/>
            <a:chExt cx="10728960" cy="43403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28960" cy="4340352"/>
            </a:xfrm>
            <a:custGeom>
              <a:avLst/>
              <a:gdLst/>
              <a:ahLst/>
              <a:cxnLst/>
              <a:rect r="r" b="b" t="t" l="l"/>
              <a:pathLst>
                <a:path h="434035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340352"/>
                  </a:lnTo>
                  <a:lnTo>
                    <a:pt x="0" y="4340352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05840" y="2962656"/>
            <a:ext cx="146304" cy="3255264"/>
            <a:chOff x="0" y="0"/>
            <a:chExt cx="195072" cy="43403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072" cy="4340352"/>
            </a:xfrm>
            <a:custGeom>
              <a:avLst/>
              <a:gdLst/>
              <a:ahLst/>
              <a:cxnLst/>
              <a:rect r="r" b="b" t="t" l="l"/>
              <a:pathLst>
                <a:path h="434035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4340352"/>
                  </a:lnTo>
                  <a:lnTo>
                    <a:pt x="0" y="4340352"/>
                  </a:lnTo>
                  <a:close/>
                </a:path>
              </a:pathLst>
            </a:custGeom>
            <a:solidFill>
              <a:srgbClr val="4A7C6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71600" y="3145536"/>
            <a:ext cx="7315200" cy="512064"/>
            <a:chOff x="0" y="0"/>
            <a:chExt cx="975360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753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4A7C6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71600" y="3730752"/>
            <a:ext cx="7498080" cy="585216"/>
            <a:chOff x="0" y="0"/>
            <a:chExt cx="9997440" cy="7802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652" r="0" b="-19965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9997440" cy="78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D6EBE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POST /api/chat/message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71600" y="4462272"/>
            <a:ext cx="7498080" cy="585216"/>
            <a:chOff x="0" y="0"/>
            <a:chExt cx="9997440" cy="7802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652" r="0" b="-19965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9997440" cy="78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D6EBE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GET  /api/chat/session/{id}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71600" y="5193792"/>
            <a:ext cx="7498080" cy="585216"/>
            <a:chOff x="0" y="0"/>
            <a:chExt cx="9997440" cy="7802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652" r="0" b="-19965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9997440" cy="78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D6EBE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DEL  /api/chat/session/{id}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09760" y="2962656"/>
            <a:ext cx="8046720" cy="3255264"/>
            <a:chOff x="0" y="0"/>
            <a:chExt cx="10728960" cy="43403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728960" cy="4340352"/>
            </a:xfrm>
            <a:custGeom>
              <a:avLst/>
              <a:gdLst/>
              <a:ahLst/>
              <a:cxnLst/>
              <a:rect r="r" b="b" t="t" l="l"/>
              <a:pathLst>
                <a:path h="434035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340352"/>
                  </a:lnTo>
                  <a:lnTo>
                    <a:pt x="0" y="4340352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509760" y="2962656"/>
            <a:ext cx="146304" cy="3255264"/>
            <a:chOff x="0" y="0"/>
            <a:chExt cx="195072" cy="43403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5072" cy="4340352"/>
            </a:xfrm>
            <a:custGeom>
              <a:avLst/>
              <a:gdLst/>
              <a:ahLst/>
              <a:cxnLst/>
              <a:rect r="r" b="b" t="t" l="l"/>
              <a:pathLst>
                <a:path h="434035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4340352"/>
                  </a:lnTo>
                  <a:lnTo>
                    <a:pt x="0" y="4340352"/>
                  </a:lnTo>
                  <a:close/>
                </a:path>
              </a:pathLst>
            </a:custGeom>
            <a:solidFill>
              <a:srgbClr val="7AAB9C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875520" y="3145536"/>
            <a:ext cx="7315200" cy="512064"/>
            <a:chOff x="0" y="0"/>
            <a:chExt cx="9753600" cy="6827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9753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7AAB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Survey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875520" y="3730752"/>
            <a:ext cx="7498080" cy="585216"/>
            <a:chOff x="0" y="0"/>
            <a:chExt cx="9997440" cy="78028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652" r="0" b="-19965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9997440" cy="78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D6EBE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GET  /api/survey/questions/{type}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875520" y="4462272"/>
            <a:ext cx="7498080" cy="585216"/>
            <a:chOff x="0" y="0"/>
            <a:chExt cx="9997440" cy="78028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652" r="0" b="-19965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9997440" cy="78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D6EBE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POST /api/survey/submit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875520" y="5193792"/>
            <a:ext cx="7498080" cy="585216"/>
            <a:chOff x="0" y="0"/>
            <a:chExt cx="9997440" cy="78028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652" r="0" b="-19965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9997440" cy="78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D6EBE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GET  /api/survey/stats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05840" y="6400800"/>
            <a:ext cx="8046720" cy="4023360"/>
            <a:chOff x="0" y="0"/>
            <a:chExt cx="10728960" cy="53644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728960" cy="5364480"/>
            </a:xfrm>
            <a:custGeom>
              <a:avLst/>
              <a:gdLst/>
              <a:ahLst/>
              <a:cxnLst/>
              <a:rect r="r" b="b" t="t" l="l"/>
              <a:pathLst>
                <a:path h="53644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05840" y="6400800"/>
            <a:ext cx="146304" cy="4023360"/>
            <a:chOff x="0" y="0"/>
            <a:chExt cx="195072" cy="53644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95072" cy="5364480"/>
            </a:xfrm>
            <a:custGeom>
              <a:avLst/>
              <a:gdLst/>
              <a:ahLst/>
              <a:cxnLst/>
              <a:rect r="r" b="b" t="t" l="l"/>
              <a:pathLst>
                <a:path h="536448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C8B89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371600" y="6583680"/>
            <a:ext cx="7315200" cy="512064"/>
            <a:chOff x="0" y="0"/>
            <a:chExt cx="9753600" cy="68275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9753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C8B8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Content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371600" y="7168896"/>
            <a:ext cx="7498080" cy="585216"/>
            <a:chOff x="0" y="0"/>
            <a:chExt cx="9997440" cy="78028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652" r="0" b="-19965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9997440" cy="78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D6EBE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GET  /api/anxiety/facts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71600" y="7900416"/>
            <a:ext cx="7498080" cy="585216"/>
            <a:chOff x="0" y="0"/>
            <a:chExt cx="9997440" cy="78028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652" r="0" b="-19965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9997440" cy="78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D6EBE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GET  /api/anxiety/coping-strategies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71600" y="8631936"/>
            <a:ext cx="7498080" cy="585216"/>
            <a:chOff x="0" y="0"/>
            <a:chExt cx="9997440" cy="78028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652" r="0" b="-19965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9997440" cy="78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D6EBE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GET  /api/anxiety/what-is-anxiety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371600" y="9363456"/>
            <a:ext cx="7498080" cy="585216"/>
            <a:chOff x="0" y="0"/>
            <a:chExt cx="9997440" cy="78028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652" r="0" b="-199652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9997440" cy="78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D6EBE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GET  /api/resources/all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509760" y="6400800"/>
            <a:ext cx="8046720" cy="1719072"/>
            <a:chOff x="0" y="0"/>
            <a:chExt cx="10728960" cy="229209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728960" cy="2292096"/>
            </a:xfrm>
            <a:custGeom>
              <a:avLst/>
              <a:gdLst/>
              <a:ahLst/>
              <a:cxnLst/>
              <a:rect r="r" b="b" t="t" l="l"/>
              <a:pathLst>
                <a:path h="2292096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292096"/>
                  </a:lnTo>
                  <a:lnTo>
                    <a:pt x="0" y="2292096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509760" y="6400800"/>
            <a:ext cx="146304" cy="1719072"/>
            <a:chOff x="0" y="0"/>
            <a:chExt cx="195072" cy="229209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95072" cy="2292096"/>
            </a:xfrm>
            <a:custGeom>
              <a:avLst/>
              <a:gdLst/>
              <a:ahLst/>
              <a:cxnLst/>
              <a:rect r="r" b="b" t="t" l="l"/>
              <a:pathLst>
                <a:path h="2292096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292096"/>
                  </a:lnTo>
                  <a:lnTo>
                    <a:pt x="0" y="2292096"/>
                  </a:lnTo>
                  <a:close/>
                </a:path>
              </a:pathLst>
            </a:custGeom>
            <a:solidFill>
              <a:srgbClr val="7A8A8E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875520" y="6583680"/>
            <a:ext cx="7315200" cy="512064"/>
            <a:chOff x="0" y="0"/>
            <a:chExt cx="9753600" cy="68275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9753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7A8A8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875520" y="7168896"/>
            <a:ext cx="7498080" cy="585216"/>
            <a:chOff x="0" y="0"/>
            <a:chExt cx="9997440" cy="78028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652" r="0" b="-199652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9997440" cy="78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D6EBE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GET  /health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9184" cy="10287000"/>
            <a:chOff x="0" y="0"/>
            <a:chExt cx="438912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91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A7C6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" y="694944"/>
            <a:ext cx="16459200" cy="457200"/>
            <a:chOff x="0" y="0"/>
            <a:chExt cx="21945600" cy="609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999">
                  <a:solidFill>
                    <a:srgbClr val="7AAB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SECURITY AND PRIVACY DESIGN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40" y="1280160"/>
            <a:ext cx="15544800" cy="1463040"/>
            <a:chOff x="0" y="0"/>
            <a:chExt cx="20726400" cy="1950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726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59"/>
                </a:lnSpc>
              </a:pPr>
              <a:r>
                <a:rPr lang="en-US" sz="6800" b="true">
                  <a:solidFill>
                    <a:srgbClr val="0D1B1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Privacy as a feature, not a policy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05840" y="3017520"/>
            <a:ext cx="16642080" cy="3145536"/>
            <a:chOff x="0" y="0"/>
            <a:chExt cx="22189440" cy="41940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89439" cy="4194048"/>
            </a:xfrm>
            <a:custGeom>
              <a:avLst/>
              <a:gdLst/>
              <a:ahLst/>
              <a:cxnLst/>
              <a:rect r="r" b="b" t="t" l="l"/>
              <a:pathLst>
                <a:path h="4194048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4194048"/>
                  </a:lnTo>
                  <a:lnTo>
                    <a:pt x="0" y="419404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80160" y="3236976"/>
            <a:ext cx="16093440" cy="585216"/>
            <a:chOff x="0" y="0"/>
            <a:chExt cx="21457920" cy="7802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457920" cy="780288"/>
            </a:xfrm>
            <a:custGeom>
              <a:avLst/>
              <a:gdLst/>
              <a:ahLst/>
              <a:cxnLst/>
              <a:rect r="r" b="b" t="t" l="l"/>
              <a:pathLst>
                <a:path h="780288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145792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4A7C6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🔒  Privacy by Design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63040" y="3931920"/>
            <a:ext cx="16093440" cy="2011680"/>
            <a:chOff x="0" y="0"/>
            <a:chExt cx="21457920" cy="26822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4579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145792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Zero PII collected — no names, emails, or login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UUID-based anonymous sessions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Survey scores stored only — never linked to identity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Users can delete their session at any time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05840" y="6492240"/>
            <a:ext cx="16642080" cy="3145536"/>
            <a:chOff x="0" y="0"/>
            <a:chExt cx="22189440" cy="41940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189439" cy="4194048"/>
            </a:xfrm>
            <a:custGeom>
              <a:avLst/>
              <a:gdLst/>
              <a:ahLst/>
              <a:cxnLst/>
              <a:rect r="r" b="b" t="t" l="l"/>
              <a:pathLst>
                <a:path h="4194048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4194048"/>
                  </a:lnTo>
                  <a:lnTo>
                    <a:pt x="0" y="419404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80160" y="6711696"/>
            <a:ext cx="16093440" cy="585216"/>
            <a:chOff x="0" y="0"/>
            <a:chExt cx="21457920" cy="7802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457920" cy="780288"/>
            </a:xfrm>
            <a:custGeom>
              <a:avLst/>
              <a:gdLst/>
              <a:ahLst/>
              <a:cxnLst/>
              <a:rect r="r" b="b" t="t" l="l"/>
              <a:pathLst>
                <a:path h="780288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145792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4A7C6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🛡️  Security Measures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63040" y="7406640"/>
            <a:ext cx="16093440" cy="2011680"/>
            <a:chOff x="0" y="0"/>
            <a:chExt cx="21457920" cy="26822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4579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145792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Rate limiting on all sensitive endpoints (Flask-Limiter)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CORS restricted to frontend origin in production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Secret management via .env — never committed to git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Input validation and length limits on all user inputs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Error handlers prevent stack trace leakage in prod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9184" cy="10287000"/>
            <a:chOff x="0" y="0"/>
            <a:chExt cx="438912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91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A7C6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" y="694944"/>
            <a:ext cx="16459200" cy="457200"/>
            <a:chOff x="0" y="0"/>
            <a:chExt cx="21945600" cy="609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999">
                  <a:solidFill>
                    <a:srgbClr val="7AAB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ETHICAL CONSIDERATIONS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40" y="1280160"/>
            <a:ext cx="15544800" cy="2314625"/>
            <a:chOff x="0" y="0"/>
            <a:chExt cx="20726400" cy="30861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3086166"/>
            </a:xfrm>
            <a:custGeom>
              <a:avLst/>
              <a:gdLst/>
              <a:ahLst/>
              <a:cxnLst/>
              <a:rect r="r" b="b" t="t" l="l"/>
              <a:pathLst>
                <a:path h="3086166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3086166"/>
                  </a:lnTo>
                  <a:lnTo>
                    <a:pt x="0" y="30861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255" r="0" b="-6246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726400" cy="30956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59"/>
                </a:lnSpc>
              </a:pPr>
              <a:r>
                <a:rPr lang="en-US" sz="68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Operating responsibly in a sensitive domain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3665220"/>
            <a:ext cx="5394960" cy="5593080"/>
            <a:chOff x="0" y="0"/>
            <a:chExt cx="7193280" cy="7457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93280" cy="7457439"/>
            </a:xfrm>
            <a:custGeom>
              <a:avLst/>
              <a:gdLst/>
              <a:ahLst/>
              <a:cxnLst/>
              <a:rect r="r" b="b" t="t" l="l"/>
              <a:pathLst>
                <a:path h="7457439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7457439"/>
                  </a:lnTo>
                  <a:lnTo>
                    <a:pt x="0" y="7457439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3520440"/>
            <a:ext cx="5394960" cy="109728"/>
            <a:chOff x="0" y="0"/>
            <a:chExt cx="7193280" cy="14630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93280" cy="146304"/>
            </a:xfrm>
            <a:custGeom>
              <a:avLst/>
              <a:gdLst/>
              <a:ahLst/>
              <a:cxnLst/>
              <a:rect r="r" b="b" t="t" l="l"/>
              <a:pathLst>
                <a:path h="146304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7AAB9C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12342" y="4298622"/>
            <a:ext cx="4937760" cy="640080"/>
            <a:chOff x="0" y="0"/>
            <a:chExt cx="6583680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83680" cy="853440"/>
            </a:xfrm>
            <a:custGeom>
              <a:avLst/>
              <a:gdLst/>
              <a:ahLst/>
              <a:cxnLst/>
              <a:rect r="r" b="b" t="t" l="l"/>
              <a:pathLst>
                <a:path h="8534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313" r="0" b="-10031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5836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7AAB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Clinical Boundary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4298622"/>
            <a:ext cx="4937760" cy="3930037"/>
            <a:chOff x="0" y="0"/>
            <a:chExt cx="6583680" cy="524004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583680" cy="5240049"/>
            </a:xfrm>
            <a:custGeom>
              <a:avLst/>
              <a:gdLst/>
              <a:ahLst/>
              <a:cxnLst/>
              <a:rect r="r" b="b" t="t" l="l"/>
              <a:pathLst>
                <a:path h="5240049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240049"/>
                  </a:lnTo>
                  <a:lnTo>
                    <a:pt x="0" y="52400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7807" t="0" r="-87807" b="-3494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6583680" cy="52876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Explicitly not a diagnostic tool — stated on every survey result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Disclaimer present on every AI response from Calm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Crisis escalation hardcoded into AI system prompt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702552" y="3665220"/>
            <a:ext cx="5394960" cy="5682996"/>
            <a:chOff x="0" y="0"/>
            <a:chExt cx="7193280" cy="75773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93280" cy="7577327"/>
            </a:xfrm>
            <a:custGeom>
              <a:avLst/>
              <a:gdLst/>
              <a:ahLst/>
              <a:cxnLst/>
              <a:rect r="r" b="b" t="t" l="l"/>
              <a:pathLst>
                <a:path h="7577327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7577327"/>
                  </a:lnTo>
                  <a:lnTo>
                    <a:pt x="0" y="7577327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702552" y="3520440"/>
            <a:ext cx="5394960" cy="109728"/>
            <a:chOff x="0" y="0"/>
            <a:chExt cx="7193280" cy="14630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93280" cy="146304"/>
            </a:xfrm>
            <a:custGeom>
              <a:avLst/>
              <a:gdLst/>
              <a:ahLst/>
              <a:cxnLst/>
              <a:rect r="r" b="b" t="t" l="l"/>
              <a:pathLst>
                <a:path h="146304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C8B89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931152" y="4298622"/>
            <a:ext cx="4937760" cy="640080"/>
            <a:chOff x="0" y="0"/>
            <a:chExt cx="6583680" cy="8534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583680" cy="853440"/>
            </a:xfrm>
            <a:custGeom>
              <a:avLst/>
              <a:gdLst/>
              <a:ahLst/>
              <a:cxnLst/>
              <a:rect r="r" b="b" t="t" l="l"/>
              <a:pathLst>
                <a:path h="8534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313" r="0" b="-10031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65836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C8B8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Ethics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848856" y="4298622"/>
            <a:ext cx="4937760" cy="3930037"/>
            <a:chOff x="0" y="0"/>
            <a:chExt cx="6583680" cy="524004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583680" cy="5240049"/>
            </a:xfrm>
            <a:custGeom>
              <a:avLst/>
              <a:gdLst/>
              <a:ahLst/>
              <a:cxnLst/>
              <a:rect r="r" b="b" t="t" l="l"/>
              <a:pathLst>
                <a:path h="5240049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240049"/>
                  </a:lnTo>
                  <a:lnTo>
                    <a:pt x="0" y="52400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7807" t="0" r="-87807" b="-3494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6583680" cy="52876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Anonymous by design — cannot be de-anonymised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data sold, shared, or used for advertising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Users can delete their session at any time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417552" y="3630168"/>
            <a:ext cx="5394960" cy="5827776"/>
            <a:chOff x="0" y="0"/>
            <a:chExt cx="7193280" cy="777036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193280" cy="7770368"/>
            </a:xfrm>
            <a:custGeom>
              <a:avLst/>
              <a:gdLst/>
              <a:ahLst/>
              <a:cxnLst/>
              <a:rect r="r" b="b" t="t" l="l"/>
              <a:pathLst>
                <a:path h="7770368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7770368"/>
                  </a:lnTo>
                  <a:lnTo>
                    <a:pt x="0" y="7770368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417552" y="3472815"/>
            <a:ext cx="5394960" cy="157353"/>
            <a:chOff x="0" y="0"/>
            <a:chExt cx="7193280" cy="20980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193280" cy="209804"/>
            </a:xfrm>
            <a:custGeom>
              <a:avLst/>
              <a:gdLst/>
              <a:ahLst/>
              <a:cxnLst/>
              <a:rect r="r" b="b" t="t" l="l"/>
              <a:pathLst>
                <a:path h="209804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209804"/>
                  </a:lnTo>
                  <a:lnTo>
                    <a:pt x="0" y="209804"/>
                  </a:lnTo>
                  <a:close/>
                </a:path>
              </a:pathLst>
            </a:custGeom>
            <a:solidFill>
              <a:srgbClr val="D6EBE6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417552" y="4298622"/>
            <a:ext cx="4937760" cy="640080"/>
            <a:chOff x="0" y="0"/>
            <a:chExt cx="6583680" cy="8534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583680" cy="853440"/>
            </a:xfrm>
            <a:custGeom>
              <a:avLst/>
              <a:gdLst/>
              <a:ahLst/>
              <a:cxnLst/>
              <a:rect r="r" b="b" t="t" l="l"/>
              <a:pathLst>
                <a:path h="8534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313" r="0" b="-10031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5836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D6EB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Content Responsibility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417552" y="4190238"/>
            <a:ext cx="4937760" cy="4146804"/>
            <a:chOff x="0" y="0"/>
            <a:chExt cx="6583680" cy="552907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583680" cy="5529072"/>
            </a:xfrm>
            <a:custGeom>
              <a:avLst/>
              <a:gdLst/>
              <a:ahLst/>
              <a:cxnLst/>
              <a:rect r="r" b="b" t="t" l="l"/>
              <a:pathLst>
                <a:path h="552907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529072"/>
                  </a:lnTo>
                  <a:lnTo>
                    <a:pt x="0" y="55290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7807" t="0" r="-87807" b="-2789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6583680" cy="55766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psychoeducational content sourced from NHS, NIMH, WHO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Survey instruments clinically validated and copyright-free since 2010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Helplines are India-specific and verified active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9184" cy="10287000"/>
            <a:chOff x="0" y="0"/>
            <a:chExt cx="438912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91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A7C6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" y="694944"/>
            <a:ext cx="16459200" cy="457200"/>
            <a:chOff x="0" y="0"/>
            <a:chExt cx="21945600" cy="609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999">
                  <a:solidFill>
                    <a:srgbClr val="7AAB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CHALLENGES AND SOLUTIONS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40" y="1280160"/>
            <a:ext cx="15544800" cy="1463040"/>
            <a:chOff x="0" y="0"/>
            <a:chExt cx="20726400" cy="1950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726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59"/>
                </a:lnSpc>
              </a:pPr>
              <a:r>
                <a:rPr lang="en-US" sz="6800" b="true">
                  <a:solidFill>
                    <a:srgbClr val="0D1B1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Problems we actually solved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05840" y="3017901"/>
            <a:ext cx="16642080" cy="1463040"/>
            <a:chOff x="0" y="0"/>
            <a:chExt cx="22189440" cy="1950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89439" cy="1950720"/>
            </a:xfrm>
            <a:custGeom>
              <a:avLst/>
              <a:gdLst/>
              <a:ahLst/>
              <a:cxnLst/>
              <a:rect r="r" b="b" t="t" l="l"/>
              <a:pathLst>
                <a:path h="19507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8720" y="3346704"/>
            <a:ext cx="694944" cy="694944"/>
            <a:chOff x="0" y="0"/>
            <a:chExt cx="926592" cy="9265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926592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C060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⚠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011680" y="3163824"/>
            <a:ext cx="6400800" cy="548640"/>
            <a:chOff x="0" y="0"/>
            <a:chExt cx="853440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53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85344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4A7C6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memory without user accounts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011680" y="3749040"/>
            <a:ext cx="14447520" cy="548640"/>
            <a:chOff x="0" y="0"/>
            <a:chExt cx="1926336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263361" cy="731520"/>
            </a:xfrm>
            <a:custGeom>
              <a:avLst/>
              <a:gdLst/>
              <a:ahLst/>
              <a:cxnLst/>
              <a:rect r="r" b="b" t="t" l="l"/>
              <a:pathLst>
                <a:path h="731520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3106" r="0" b="-46310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926336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UUID session system with DB-persisted history stored in localStorage — seamless memory, zero login friction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05840" y="4700016"/>
            <a:ext cx="16642080" cy="1463040"/>
            <a:chOff x="0" y="0"/>
            <a:chExt cx="22189440" cy="1950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89439" cy="1950720"/>
            </a:xfrm>
            <a:custGeom>
              <a:avLst/>
              <a:gdLst/>
              <a:ahLst/>
              <a:cxnLst/>
              <a:rect r="r" b="b" t="t" l="l"/>
              <a:pathLst>
                <a:path h="19507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88720" y="5029200"/>
            <a:ext cx="694944" cy="694944"/>
            <a:chOff x="0" y="0"/>
            <a:chExt cx="926592" cy="926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926592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C060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⚠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011680" y="4846320"/>
            <a:ext cx="6400800" cy="548640"/>
            <a:chOff x="0" y="0"/>
            <a:chExt cx="853440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53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85344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4A7C6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Keeping the AI within safe boundaries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011680" y="5431536"/>
            <a:ext cx="14447520" cy="548640"/>
            <a:chOff x="0" y="0"/>
            <a:chExt cx="1926336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263361" cy="731520"/>
            </a:xfrm>
            <a:custGeom>
              <a:avLst/>
              <a:gdLst/>
              <a:ahLst/>
              <a:cxnLst/>
              <a:rect r="r" b="b" t="t" l="l"/>
              <a:pathLst>
                <a:path h="731520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3106" r="0" b="-46310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9263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Carefully engineered system prompt with explicit role constraints and hardcoded crisis response logic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05840" y="6382512"/>
            <a:ext cx="16642080" cy="1463040"/>
            <a:chOff x="0" y="0"/>
            <a:chExt cx="22189440" cy="19507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189439" cy="1950720"/>
            </a:xfrm>
            <a:custGeom>
              <a:avLst/>
              <a:gdLst/>
              <a:ahLst/>
              <a:cxnLst/>
              <a:rect r="r" b="b" t="t" l="l"/>
              <a:pathLst>
                <a:path h="19507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88720" y="6711696"/>
            <a:ext cx="694944" cy="694944"/>
            <a:chOff x="0" y="0"/>
            <a:chExt cx="926592" cy="9265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926592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C060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⚠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011680" y="6528816"/>
            <a:ext cx="6400800" cy="548640"/>
            <a:chOff x="0" y="0"/>
            <a:chExt cx="853440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53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85344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4A7C6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Clinical tools without being clinical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011680" y="7114032"/>
            <a:ext cx="14447520" cy="548640"/>
            <a:chOff x="0" y="0"/>
            <a:chExt cx="1926336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9263361" cy="731520"/>
            </a:xfrm>
            <a:custGeom>
              <a:avLst/>
              <a:gdLst/>
              <a:ahLst/>
              <a:cxnLst/>
              <a:rect r="r" b="b" t="t" l="l"/>
              <a:pathLst>
                <a:path h="731520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3106" r="0" b="-46310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1926336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Prominent disclaimers and awareness framing — validated instruments used for self-reflection, not diagnosis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05840" y="8065008"/>
            <a:ext cx="16642080" cy="1463040"/>
            <a:chOff x="0" y="0"/>
            <a:chExt cx="22189440" cy="19507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189439" cy="1950720"/>
            </a:xfrm>
            <a:custGeom>
              <a:avLst/>
              <a:gdLst/>
              <a:ahLst/>
              <a:cxnLst/>
              <a:rect r="r" b="b" t="t" l="l"/>
              <a:pathLst>
                <a:path h="19507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88720" y="8394192"/>
            <a:ext cx="694944" cy="694944"/>
            <a:chOff x="0" y="0"/>
            <a:chExt cx="926592" cy="92659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926592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C060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⚠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011680" y="8211312"/>
            <a:ext cx="6400800" cy="548640"/>
            <a:chOff x="0" y="0"/>
            <a:chExt cx="8534400" cy="731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53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85344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4A7C6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Performance without a heavy framework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2011680" y="8796528"/>
            <a:ext cx="14447520" cy="548640"/>
            <a:chOff x="0" y="0"/>
            <a:chExt cx="19263360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9263361" cy="731520"/>
            </a:xfrm>
            <a:custGeom>
              <a:avLst/>
              <a:gdLst/>
              <a:ahLst/>
              <a:cxnLst/>
              <a:rect r="r" b="b" t="t" l="l"/>
              <a:pathLst>
                <a:path h="731520" w="19263361">
                  <a:moveTo>
                    <a:pt x="0" y="0"/>
                  </a:moveTo>
                  <a:lnTo>
                    <a:pt x="19263361" y="0"/>
                  </a:lnTo>
                  <a:lnTo>
                    <a:pt x="192633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3106" r="0" b="-46310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1926336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0D1B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Vanilla JS frontend with zero external dependencies — sub-second load times, no build step required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9184" cy="10287000"/>
            <a:chOff x="0" y="0"/>
            <a:chExt cx="438912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91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A7C6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" y="694944"/>
            <a:ext cx="16459200" cy="457200"/>
            <a:chOff x="0" y="0"/>
            <a:chExt cx="21945600" cy="609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999">
                  <a:solidFill>
                    <a:srgbClr val="7AAB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SCOPE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40" y="1280160"/>
            <a:ext cx="15544800" cy="1463040"/>
            <a:chOff x="0" y="0"/>
            <a:chExt cx="20726400" cy="1950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726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59"/>
                </a:lnSpc>
              </a:pPr>
              <a:r>
                <a:rPr lang="en-US" sz="68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Where Autonomic can go next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05840" y="3017520"/>
            <a:ext cx="5394960" cy="2834640"/>
            <a:chOff x="0" y="0"/>
            <a:chExt cx="7193280" cy="3779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93280" cy="3779520"/>
            </a:xfrm>
            <a:custGeom>
              <a:avLst/>
              <a:gdLst/>
              <a:ahLst/>
              <a:cxnLst/>
              <a:rect r="r" b="b" t="t" l="l"/>
              <a:pathLst>
                <a:path h="377952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80160" y="3236976"/>
            <a:ext cx="914400" cy="914400"/>
            <a:chOff x="0" y="0"/>
            <a:chExt cx="1219200" cy="1219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121920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🌐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80160" y="4151376"/>
            <a:ext cx="4846320" cy="512064"/>
            <a:chOff x="0" y="0"/>
            <a:chExt cx="6461760" cy="6827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7AAB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Multilingual Support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80160" y="4700016"/>
            <a:ext cx="4846320" cy="914400"/>
            <a:chOff x="0" y="0"/>
            <a:chExt cx="6461760" cy="1219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4617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270" r="0" b="-5327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646176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Hindi, Odia, Bengali — reaching non-English speaking students across India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711696" y="3017520"/>
            <a:ext cx="5394960" cy="2834640"/>
            <a:chOff x="0" y="0"/>
            <a:chExt cx="7193280" cy="3779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93280" cy="3779520"/>
            </a:xfrm>
            <a:custGeom>
              <a:avLst/>
              <a:gdLst/>
              <a:ahLst/>
              <a:cxnLst/>
              <a:rect r="r" b="b" t="t" l="l"/>
              <a:pathLst>
                <a:path h="377952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986016" y="3236976"/>
            <a:ext cx="914400" cy="914400"/>
            <a:chOff x="0" y="0"/>
            <a:chExt cx="1219200" cy="1219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121920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🏫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986016" y="4151376"/>
            <a:ext cx="4846320" cy="512064"/>
            <a:chOff x="0" y="0"/>
            <a:chExt cx="646176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7AAB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University Integration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986016" y="4700016"/>
            <a:ext cx="4846320" cy="1108583"/>
            <a:chOff x="0" y="0"/>
            <a:chExt cx="6461760" cy="147811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461760" cy="1478111"/>
            </a:xfrm>
            <a:custGeom>
              <a:avLst/>
              <a:gdLst/>
              <a:ahLst/>
              <a:cxnLst/>
              <a:rect r="r" b="b" t="t" l="l"/>
              <a:pathLst>
                <a:path h="1478111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478111"/>
                  </a:lnTo>
                  <a:lnTo>
                    <a:pt x="0" y="14781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39" r="0" b="-2642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6461760" cy="1525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White-label version for the KIIT counselling centre — zero setup for students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417552" y="3017520"/>
            <a:ext cx="5394960" cy="2834640"/>
            <a:chOff x="0" y="0"/>
            <a:chExt cx="7193280" cy="3779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193280" cy="3779520"/>
            </a:xfrm>
            <a:custGeom>
              <a:avLst/>
              <a:gdLst/>
              <a:ahLst/>
              <a:cxnLst/>
              <a:rect r="r" b="b" t="t" l="l"/>
              <a:pathLst>
                <a:path h="377952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691872" y="3236976"/>
            <a:ext cx="914400" cy="914400"/>
            <a:chOff x="0" y="0"/>
            <a:chExt cx="1219200" cy="1219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76200"/>
              <a:ext cx="121920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📈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691872" y="4151376"/>
            <a:ext cx="4846320" cy="512064"/>
            <a:chOff x="0" y="0"/>
            <a:chExt cx="6461760" cy="68275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7AAB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Mood Tracking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691872" y="4700016"/>
            <a:ext cx="4846320" cy="914400"/>
            <a:chOff x="0" y="0"/>
            <a:chExt cx="6461760" cy="1219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4617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270" r="0" b="-5327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646176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Longitudinal self-check history with personal trend graphs and insights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05840" y="6217920"/>
            <a:ext cx="5394960" cy="2834640"/>
            <a:chOff x="0" y="0"/>
            <a:chExt cx="7193280" cy="3779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193280" cy="3779520"/>
            </a:xfrm>
            <a:custGeom>
              <a:avLst/>
              <a:gdLst/>
              <a:ahLst/>
              <a:cxnLst/>
              <a:rect r="r" b="b" t="t" l="l"/>
              <a:pathLst>
                <a:path h="377952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80160" y="6437376"/>
            <a:ext cx="914400" cy="914400"/>
            <a:chOff x="0" y="0"/>
            <a:chExt cx="1219200" cy="1219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76200"/>
              <a:ext cx="121920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👨‍⚕️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80160" y="7351776"/>
            <a:ext cx="4846320" cy="512064"/>
            <a:chOff x="0" y="0"/>
            <a:chExt cx="6461760" cy="68275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7AAB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Therapist Directory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80160" y="7900416"/>
            <a:ext cx="4846320" cy="914400"/>
            <a:chOff x="0" y="0"/>
            <a:chExt cx="6461760" cy="12192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4617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270" r="0" b="-5327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646176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Direct booking with verified professionals — bridge from awareness to action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711696" y="6217920"/>
            <a:ext cx="5394960" cy="2834640"/>
            <a:chOff x="0" y="0"/>
            <a:chExt cx="7193280" cy="3779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193280" cy="3779520"/>
            </a:xfrm>
            <a:custGeom>
              <a:avLst/>
              <a:gdLst/>
              <a:ahLst/>
              <a:cxnLst/>
              <a:rect r="r" b="b" t="t" l="l"/>
              <a:pathLst>
                <a:path h="377952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986016" y="6437376"/>
            <a:ext cx="914400" cy="914400"/>
            <a:chOff x="0" y="0"/>
            <a:chExt cx="1219200" cy="12192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76200"/>
              <a:ext cx="121920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📱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986016" y="7351776"/>
            <a:ext cx="4846320" cy="512064"/>
            <a:chOff x="0" y="0"/>
            <a:chExt cx="6461760" cy="6827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7AAB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Mobile App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986016" y="7900416"/>
            <a:ext cx="4846320" cy="914400"/>
            <a:chOff x="0" y="0"/>
            <a:chExt cx="6461760" cy="12192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4617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270" r="0" b="-5327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646176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 Native wrapper around existing Flask API — ship to iOS and Android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417552" y="6217920"/>
            <a:ext cx="5394960" cy="2834640"/>
            <a:chOff x="0" y="0"/>
            <a:chExt cx="7193280" cy="3779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193280" cy="3779520"/>
            </a:xfrm>
            <a:custGeom>
              <a:avLst/>
              <a:gdLst/>
              <a:ahLst/>
              <a:cxnLst/>
              <a:rect r="r" b="b" t="t" l="l"/>
              <a:pathLst>
                <a:path h="377952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2691872" y="6437376"/>
            <a:ext cx="914400" cy="914400"/>
            <a:chOff x="0" y="0"/>
            <a:chExt cx="1219200" cy="12192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76200"/>
              <a:ext cx="121920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🧠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2691872" y="7351776"/>
            <a:ext cx="4846320" cy="512064"/>
            <a:chOff x="0" y="0"/>
            <a:chExt cx="6461760" cy="68275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7AAB9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Fine-tuned Model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2618720" y="7900416"/>
            <a:ext cx="4846320" cy="914400"/>
            <a:chOff x="0" y="0"/>
            <a:chExt cx="6461760" cy="12192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4617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270" r="0" b="-5327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646176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D6EB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 a domain-specific model on Indian mental health corpus for higher accuracy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A7C6F">
                <a:alpha val="39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402336" cy="10287000"/>
            <a:chOff x="0" y="0"/>
            <a:chExt cx="536448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644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A7C6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05840" y="1005840"/>
            <a:ext cx="16459200" cy="1828800"/>
            <a:chOff x="0" y="0"/>
            <a:chExt cx="21945600" cy="243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94560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439"/>
                </a:lnSpc>
              </a:pPr>
              <a:r>
                <a:rPr lang="en-US" sz="11199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Thank You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86790" y="2998470"/>
            <a:ext cx="9182100" cy="38100"/>
            <a:chOff x="0" y="0"/>
            <a:chExt cx="12242800" cy="50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25400" y="0"/>
              <a:ext cx="12192000" cy="50800"/>
            </a:xfrm>
            <a:custGeom>
              <a:avLst/>
              <a:gdLst/>
              <a:ahLst/>
              <a:cxnLst/>
              <a:rect r="r" b="b" t="t" l="l"/>
              <a:pathLst>
                <a:path h="508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A7C6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05840" y="3383280"/>
            <a:ext cx="16093440" cy="1828800"/>
            <a:chOff x="0" y="0"/>
            <a:chExt cx="21457920" cy="2438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4579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468" r="0" b="-12146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145792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D6EBE6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Autonomic demonstrates that technology can be used thoughtfully in the mental health space — not to replace professionals, but to reduce the distance between a person and their first step toward help.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05840" y="5577840"/>
            <a:ext cx="16093440" cy="2743200"/>
            <a:chOff x="0" y="0"/>
            <a:chExt cx="21457920" cy="3657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4579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312" r="0" b="-6431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457920" cy="3695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production-ready full-stack web application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clinically grounded, ethically designed awareness tool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 AI system with persistent memory and safe, bounded behaviour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platform that treats privacy as a feature, not a policy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05840" y="8686800"/>
            <a:ext cx="16642080" cy="1005840"/>
            <a:chOff x="0" y="0"/>
            <a:chExt cx="22189440" cy="13411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21894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C8B89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most important metric is not lines of code — it is whether someone feels less alone than when they arrived.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DAHGatvYp-I</dc:identifier>
  <dcterms:modified xsi:type="dcterms:W3CDTF">2011-08-01T06:04:30Z</dcterms:modified>
  <cp:revision>1</cp:revision>
  <dc:title>Autonomic-Presentation.pptx</dc:title>
</cp:coreProperties>
</file>